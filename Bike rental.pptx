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2" r:id="rId1"/>
  </p:sldMasterIdLst>
  <p:notesMasterIdLst>
    <p:notesMasterId r:id="rId12"/>
  </p:notesMasterIdLst>
  <p:sldIdLst>
    <p:sldId id="256" r:id="rId2"/>
    <p:sldId id="257" r:id="rId3"/>
    <p:sldId id="258" r:id="rId4"/>
    <p:sldId id="262" r:id="rId5"/>
    <p:sldId id="259" r:id="rId6"/>
    <p:sldId id="260" r:id="rId7"/>
    <p:sldId id="263" r:id="rId8"/>
    <p:sldId id="264" r:id="rId9"/>
    <p:sldId id="261"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D:\Digicrome%20AI\Internship\Nexthikes%20IT\Bike%20Rental%20Project.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oleObject" Target="file:///D:\Digicrome%20AI\Internship\Nexthikes%20IT\Bike%20Rental%20Projec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D:\Digicrome%20AI\Internship\Nexthikes%20IT\Bike%20Rental%20Project.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D:\Digicrome%20AI\Internship\Nexthikes%20IT\Bike%20Rental%20Project.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[Bike Rental Project.xlsx]Pivot Table_Append_MergeDS12_DS!PivotTable2</c:name>
    <c:fmtId val="15"/>
  </c:pivotSource>
  <c:chart>
    <c:title>
      <c:tx>
        <c:rich>
          <a:bodyPr rot="0" spcFirstLastPara="1" vertOverflow="ellipsis" vert="horz" wrap="square" anchor="ctr" anchorCtr="1"/>
          <a:lstStyle/>
          <a:p>
            <a:pPr algn="ctr" rtl="0">
              <a:defRPr lang="en-US" sz="1400" b="1" i="0" u="none" strike="noStrike" kern="1200" spc="0" baseline="0">
                <a:solidFill>
                  <a:sysClr val="windowText" lastClr="000000">
                    <a:lumMod val="65000"/>
                    <a:lumOff val="35000"/>
                  </a:sysClr>
                </a:solidFill>
                <a:latin typeface="+mn-lt"/>
                <a:ea typeface="+mn-ea"/>
                <a:cs typeface="+mn-cs"/>
              </a:defRPr>
            </a:pPr>
            <a:r>
              <a:rPr lang="en-US" sz="1400" b="1" i="0" u="none" strike="noStrike" kern="1200" spc="0" baseline="0">
                <a:solidFill>
                  <a:sysClr val="windowText" lastClr="000000">
                    <a:lumMod val="65000"/>
                    <a:lumOff val="35000"/>
                  </a:sysClr>
                </a:solidFill>
                <a:latin typeface="+mn-lt"/>
                <a:ea typeface="+mn-ea"/>
                <a:cs typeface="+mn-cs"/>
              </a:rPr>
              <a:t>Casual Vs Registered</a:t>
            </a:r>
          </a:p>
        </c:rich>
      </c:tx>
      <c:layout>
        <c:manualLayout>
          <c:xMode val="edge"/>
          <c:yMode val="edge"/>
          <c:x val="0.21873732849262106"/>
          <c:y val="3.2407407407407406E-2"/>
        </c:manualLayout>
      </c:layout>
      <c:overlay val="0"/>
      <c:spPr>
        <a:noFill/>
        <a:ln>
          <a:noFill/>
        </a:ln>
        <a:effectLst/>
      </c:spPr>
      <c:txPr>
        <a:bodyPr rot="0" spcFirstLastPara="1" vertOverflow="ellipsis" vert="horz" wrap="square" anchor="ctr" anchorCtr="1"/>
        <a:lstStyle/>
        <a:p>
          <a:pPr algn="ctr" rtl="0">
            <a:defRPr lang="en-US" sz="1400" b="1" i="0" u="none" strike="noStrike" kern="1200" spc="0" baseline="0">
              <a:solidFill>
                <a:sysClr val="windowText" lastClr="000000">
                  <a:lumMod val="65000"/>
                  <a:lumOff val="35000"/>
                </a:sys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1"/>
          <c:showBubbleSize val="0"/>
          <c:separator>
</c:separator>
          <c:extLst>
            <c:ext xmlns:c15="http://schemas.microsoft.com/office/drawing/2012/chart" uri="{CE6537A1-D6FC-4f65-9D91-7224C49458BB}"/>
          </c:extLst>
        </c:dLbl>
      </c:pivotFmt>
      <c:pivotFmt>
        <c:idx val="1"/>
        <c:spPr>
          <a:solidFill>
            <a:srgbClr val="00B050"/>
          </a:solidFill>
          <a:ln w="19050">
            <a:solidFill>
              <a:schemeClr val="lt1"/>
            </a:solidFill>
          </a:ln>
          <a:effectLst/>
        </c:spPr>
        <c:dLbl>
          <c:idx val="0"/>
          <c:layout>
            <c:manualLayout>
              <c:x val="0.25869913715875337"/>
              <c:y val="9.2592592592592587E-3"/>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1"/>
          <c:showBubbleSize val="0"/>
          <c:separator>
</c:separator>
          <c:extLst>
            <c:ext xmlns:c15="http://schemas.microsoft.com/office/drawing/2012/chart" uri="{CE6537A1-D6FC-4f65-9D91-7224C49458BB}"/>
          </c:extLst>
        </c:dLbl>
      </c:pivotFmt>
      <c:pivotFmt>
        <c:idx val="2"/>
        <c:spPr>
          <a:solidFill>
            <a:schemeClr val="accent2"/>
          </a:solidFill>
          <a:ln w="19050">
            <a:solidFill>
              <a:schemeClr val="lt1"/>
            </a:solidFill>
          </a:ln>
          <a:effectLst/>
        </c:spPr>
        <c:dLbl>
          <c:idx val="0"/>
          <c:layout>
            <c:manualLayout>
              <c:x val="-0.19589168120452011"/>
              <c:y val="-8.3333333333333329E-2"/>
            </c:manualLayout>
          </c:layout>
          <c:spPr>
            <a:noFill/>
            <a:ln>
              <a:noFill/>
            </a:ln>
            <a:effectLst/>
          </c:spPr>
          <c:txPr>
            <a:bodyPr rot="0" spcFirstLastPara="1" vertOverflow="ellipsis" horzOverflow="clip" vert="horz" wrap="square" lIns="38100" tIns="19050" rIns="38100" bIns="19050" anchor="ctr" anchorCtr="1">
              <a:no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1"/>
          <c:showBubbleSize val="0"/>
          <c:extLst>
            <c:ext xmlns:c15="http://schemas.microsoft.com/office/drawing/2012/chart" uri="{CE6537A1-D6FC-4f65-9D91-7224C49458BB}">
              <c15:spPr xmlns:c15="http://schemas.microsoft.com/office/drawing/2012/chart">
                <a:prstGeom prst="rect">
                  <a:avLst/>
                </a:prstGeom>
                <a:noFill/>
                <a:ln>
                  <a:noFill/>
                </a:ln>
              </c15:spPr>
            </c:ext>
          </c:extLst>
        </c:dLbl>
      </c:pivotFmt>
      <c:pivotFmt>
        <c:idx val="3"/>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1"/>
          <c:showBubbleSize val="0"/>
          <c:separator>
</c:separator>
          <c:extLst>
            <c:ext xmlns:c15="http://schemas.microsoft.com/office/drawing/2012/chart" uri="{CE6537A1-D6FC-4f65-9D91-7224C49458BB}"/>
          </c:extLst>
        </c:dLbl>
      </c:pivotFmt>
      <c:pivotFmt>
        <c:idx val="4"/>
        <c:spPr>
          <a:solidFill>
            <a:srgbClr val="00B050"/>
          </a:solidFill>
          <a:ln w="19050">
            <a:solidFill>
              <a:schemeClr val="lt1"/>
            </a:solidFill>
          </a:ln>
          <a:effectLst/>
        </c:spPr>
        <c:dLbl>
          <c:idx val="0"/>
          <c:layout>
            <c:manualLayout>
              <c:x val="0.25869913715875337"/>
              <c:y val="9.2592592592592587E-3"/>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1"/>
          <c:showBubbleSize val="0"/>
          <c:separator>
</c:separator>
          <c:extLst>
            <c:ext xmlns:c15="http://schemas.microsoft.com/office/drawing/2012/chart" uri="{CE6537A1-D6FC-4f65-9D91-7224C49458BB}"/>
          </c:extLst>
        </c:dLbl>
      </c:pivotFmt>
      <c:pivotFmt>
        <c:idx val="5"/>
        <c:spPr>
          <a:solidFill>
            <a:schemeClr val="accent1"/>
          </a:solidFill>
          <a:ln w="19050">
            <a:solidFill>
              <a:schemeClr val="lt1"/>
            </a:solidFill>
          </a:ln>
          <a:effectLst/>
        </c:spPr>
        <c:dLbl>
          <c:idx val="0"/>
          <c:layout>
            <c:manualLayout>
              <c:x val="-0.19589168120452011"/>
              <c:y val="-8.3333333333333329E-2"/>
            </c:manualLayout>
          </c:layout>
          <c:spPr>
            <a:noFill/>
            <a:ln>
              <a:noFill/>
            </a:ln>
            <a:effectLst/>
          </c:spPr>
          <c:txPr>
            <a:bodyPr rot="0" spcFirstLastPara="1" vertOverflow="ellipsis" horzOverflow="clip" vert="horz" wrap="square" lIns="38100" tIns="19050" rIns="38100" bIns="19050" anchor="ctr" anchorCtr="1">
              <a:no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1"/>
          <c:showBubbleSize val="0"/>
          <c:extLst>
            <c:ext xmlns:c15="http://schemas.microsoft.com/office/drawing/2012/chart" uri="{CE6537A1-D6FC-4f65-9D91-7224C49458BB}">
              <c15:spPr xmlns:c15="http://schemas.microsoft.com/office/drawing/2012/chart">
                <a:prstGeom prst="rect">
                  <a:avLst/>
                </a:prstGeom>
                <a:noFill/>
                <a:ln>
                  <a:noFill/>
                </a:ln>
              </c15:spPr>
            </c:ext>
          </c:extLst>
        </c:dLbl>
      </c:pivotFmt>
      <c:pivotFmt>
        <c:idx val="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1"/>
          <c:showBubbleSize val="0"/>
          <c:separator>
</c:separator>
          <c:extLst>
            <c:ext xmlns:c15="http://schemas.microsoft.com/office/drawing/2012/chart" uri="{CE6537A1-D6FC-4f65-9D91-7224C49458BB}"/>
          </c:extLst>
        </c:dLbl>
      </c:pivotFmt>
      <c:pivotFmt>
        <c:idx val="7"/>
        <c:spPr>
          <a:solidFill>
            <a:srgbClr val="00B050"/>
          </a:solidFill>
          <a:ln w="19050">
            <a:solidFill>
              <a:schemeClr val="lt1"/>
            </a:solidFill>
          </a:ln>
          <a:effectLst/>
        </c:spPr>
        <c:dLbl>
          <c:idx val="0"/>
          <c:layout>
            <c:manualLayout>
              <c:x val="0.25869913715875337"/>
              <c:y val="9.2592592592592587E-3"/>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1"/>
          <c:showBubbleSize val="0"/>
          <c:separator>
</c:separator>
          <c:extLst>
            <c:ext xmlns:c15="http://schemas.microsoft.com/office/drawing/2012/chart" uri="{CE6537A1-D6FC-4f65-9D91-7224C49458BB}"/>
          </c:extLst>
        </c:dLbl>
      </c:pivotFmt>
      <c:pivotFmt>
        <c:idx val="8"/>
        <c:spPr>
          <a:solidFill>
            <a:schemeClr val="accent1"/>
          </a:solidFill>
          <a:ln w="19050">
            <a:solidFill>
              <a:schemeClr val="lt1"/>
            </a:solidFill>
          </a:ln>
          <a:effectLst/>
        </c:spPr>
        <c:dLbl>
          <c:idx val="0"/>
          <c:layout>
            <c:manualLayout>
              <c:x val="-0.19589168120452011"/>
              <c:y val="-8.3333333333333329E-2"/>
            </c:manualLayout>
          </c:layout>
          <c:spPr>
            <a:noFill/>
            <a:ln>
              <a:noFill/>
            </a:ln>
            <a:effectLst/>
          </c:spPr>
          <c:txPr>
            <a:bodyPr rot="0" spcFirstLastPara="1" vertOverflow="ellipsis" horzOverflow="clip" vert="horz" wrap="square" lIns="38100" tIns="19050" rIns="38100" bIns="19050" anchor="ctr" anchorCtr="1">
              <a:no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1"/>
          <c:showBubbleSize val="0"/>
          <c:extLst>
            <c:ext xmlns:c15="http://schemas.microsoft.com/office/drawing/2012/chart" uri="{CE6537A1-D6FC-4f65-9D91-7224C49458BB}">
              <c15:spPr xmlns:c15="http://schemas.microsoft.com/office/drawing/2012/chart">
                <a:prstGeom prst="rect">
                  <a:avLst/>
                </a:prstGeom>
                <a:noFill/>
                <a:ln>
                  <a:noFill/>
                </a:ln>
              </c15:spPr>
            </c:ext>
          </c:extLst>
        </c:dLbl>
      </c:pivotFmt>
      <c:pivotFmt>
        <c:idx val="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1"/>
          <c:showBubbleSize val="0"/>
          <c:separator>
</c:separator>
          <c:extLst>
            <c:ext xmlns:c15="http://schemas.microsoft.com/office/drawing/2012/chart" uri="{CE6537A1-D6FC-4f65-9D91-7224C49458BB}"/>
          </c:extLst>
        </c:dLbl>
      </c:pivotFmt>
      <c:pivotFmt>
        <c:idx val="10"/>
        <c:spPr>
          <a:solidFill>
            <a:srgbClr val="00B050"/>
          </a:solidFill>
          <a:ln w="19050">
            <a:solidFill>
              <a:schemeClr val="lt1"/>
            </a:solidFill>
          </a:ln>
          <a:effectLst/>
        </c:spPr>
        <c:dLbl>
          <c:idx val="0"/>
          <c:layout>
            <c:manualLayout>
              <c:x val="0.25869913715875337"/>
              <c:y val="9.2592592592592587E-3"/>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1"/>
          <c:showBubbleSize val="0"/>
          <c:separator>
</c:separator>
          <c:extLst>
            <c:ext xmlns:c15="http://schemas.microsoft.com/office/drawing/2012/chart" uri="{CE6537A1-D6FC-4f65-9D91-7224C49458BB}"/>
          </c:extLst>
        </c:dLbl>
      </c:pivotFmt>
      <c:pivotFmt>
        <c:idx val="11"/>
        <c:spPr>
          <a:solidFill>
            <a:schemeClr val="accent1"/>
          </a:solidFill>
          <a:ln w="19050">
            <a:solidFill>
              <a:schemeClr val="lt1"/>
            </a:solidFill>
          </a:ln>
          <a:effectLst/>
        </c:spPr>
        <c:dLbl>
          <c:idx val="0"/>
          <c:layout>
            <c:manualLayout>
              <c:x val="-0.19589168120452011"/>
              <c:y val="-8.3333333333333329E-2"/>
            </c:manualLayout>
          </c:layout>
          <c:spPr>
            <a:noFill/>
            <a:ln>
              <a:noFill/>
            </a:ln>
            <a:effectLst/>
          </c:spPr>
          <c:txPr>
            <a:bodyPr rot="0" spcFirstLastPara="1" vertOverflow="ellipsis" horzOverflow="clip" vert="horz" wrap="square" lIns="38100" tIns="19050" rIns="38100" bIns="19050" anchor="ctr" anchorCtr="1">
              <a:no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1"/>
          <c:showBubbleSize val="0"/>
          <c:extLst>
            <c:ext xmlns:c15="http://schemas.microsoft.com/office/drawing/2012/chart" uri="{CE6537A1-D6FC-4f65-9D91-7224C49458BB}">
              <c15:spPr xmlns:c15="http://schemas.microsoft.com/office/drawing/2012/chart">
                <a:prstGeom prst="rect">
                  <a:avLst/>
                </a:prstGeom>
                <a:noFill/>
                <a:ln>
                  <a:noFill/>
                </a:ln>
              </c15:spPr>
            </c:ext>
          </c:extLst>
        </c:dLbl>
      </c:pivotFmt>
      <c:pivotFmt>
        <c:idx val="1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1"/>
          <c:showBubbleSize val="0"/>
          <c:separator>
</c:separator>
          <c:extLst>
            <c:ext xmlns:c15="http://schemas.microsoft.com/office/drawing/2012/chart" uri="{CE6537A1-D6FC-4f65-9D91-7224C49458BB}"/>
          </c:extLst>
        </c:dLbl>
      </c:pivotFmt>
      <c:pivotFmt>
        <c:idx val="13"/>
        <c:spPr>
          <a:solidFill>
            <a:srgbClr val="00B050"/>
          </a:solidFill>
          <a:ln w="19050">
            <a:solidFill>
              <a:schemeClr val="lt1"/>
            </a:solidFill>
          </a:ln>
          <a:effectLst/>
        </c:spPr>
        <c:dLbl>
          <c:idx val="0"/>
          <c:layout>
            <c:manualLayout>
              <c:x val="0.25869913715875337"/>
              <c:y val="9.2592592592592587E-3"/>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1"/>
          <c:showBubbleSize val="0"/>
          <c:separator>
</c:separator>
          <c:extLst>
            <c:ext xmlns:c15="http://schemas.microsoft.com/office/drawing/2012/chart" uri="{CE6537A1-D6FC-4f65-9D91-7224C49458BB}"/>
          </c:extLst>
        </c:dLbl>
      </c:pivotFmt>
      <c:pivotFmt>
        <c:idx val="14"/>
        <c:spPr>
          <a:solidFill>
            <a:schemeClr val="accent1"/>
          </a:solidFill>
          <a:ln w="19050">
            <a:solidFill>
              <a:schemeClr val="lt1"/>
            </a:solidFill>
          </a:ln>
          <a:effectLst/>
        </c:spPr>
        <c:dLbl>
          <c:idx val="0"/>
          <c:layout>
            <c:manualLayout>
              <c:x val="-0.19589168120452011"/>
              <c:y val="-8.3333333333333329E-2"/>
            </c:manualLayout>
          </c:layout>
          <c:spPr>
            <a:noFill/>
            <a:ln>
              <a:noFill/>
            </a:ln>
            <a:effectLst/>
          </c:spPr>
          <c:txPr>
            <a:bodyPr rot="0" spcFirstLastPara="1" vertOverflow="ellipsis" horzOverflow="clip" vert="horz" wrap="square" lIns="38100" tIns="19050" rIns="38100" bIns="19050" anchor="ctr" anchorCtr="1">
              <a:no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1"/>
          <c:showBubbleSize val="0"/>
          <c:extLst>
            <c:ext xmlns:c15="http://schemas.microsoft.com/office/drawing/2012/chart" uri="{CE6537A1-D6FC-4f65-9D91-7224C49458BB}">
              <c15:spPr xmlns:c15="http://schemas.microsoft.com/office/drawing/2012/chart">
                <a:prstGeom prst="rect">
                  <a:avLst/>
                </a:prstGeom>
                <a:noFill/>
                <a:ln>
                  <a:noFill/>
                </a:ln>
              </c15:spPr>
            </c:ext>
          </c:extLst>
        </c:dLbl>
      </c:pivotFmt>
    </c:pivotFmts>
    <c:plotArea>
      <c:layout>
        <c:manualLayout>
          <c:layoutTarget val="inner"/>
          <c:xMode val="edge"/>
          <c:yMode val="edge"/>
          <c:x val="0.19023056249705314"/>
          <c:y val="0.31263706620005827"/>
          <c:w val="0.61953926792085123"/>
          <c:h val="0.57479476523767858"/>
        </c:manualLayout>
      </c:layout>
      <c:doughnutChart>
        <c:varyColors val="1"/>
        <c:ser>
          <c:idx val="0"/>
          <c:order val="0"/>
          <c:tx>
            <c:strRef>
              <c:f>'Pivot Table_Append_MergeDS12_DS'!$P$3</c:f>
              <c:strCache>
                <c:ptCount val="1"/>
                <c:pt idx="0">
                  <c:v>Total</c:v>
                </c:pt>
              </c:strCache>
            </c:strRef>
          </c:tx>
          <c:dPt>
            <c:idx val="0"/>
            <c:bubble3D val="0"/>
            <c:spPr>
              <a:solidFill>
                <a:srgbClr val="00B050"/>
              </a:solidFill>
              <a:ln w="19050">
                <a:solidFill>
                  <a:schemeClr val="lt1"/>
                </a:solidFill>
              </a:ln>
              <a:effectLst/>
            </c:spPr>
            <c:extLst>
              <c:ext xmlns:c16="http://schemas.microsoft.com/office/drawing/2014/chart" uri="{C3380CC4-5D6E-409C-BE32-E72D297353CC}">
                <c16:uniqueId val="{00000001-78C6-47FA-8FDA-F1D0552237D1}"/>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78C6-47FA-8FDA-F1D0552237D1}"/>
              </c:ext>
            </c:extLst>
          </c:dPt>
          <c:dLbls>
            <c:dLbl>
              <c:idx val="0"/>
              <c:layout>
                <c:manualLayout>
                  <c:x val="0.25869913715875337"/>
                  <c:y val="9.2592592592592587E-3"/>
                </c:manualLayout>
              </c:layout>
              <c:showLegendKey val="1"/>
              <c:showVal val="1"/>
              <c:showCatName val="0"/>
              <c:showSerName val="0"/>
              <c:showPercent val="1"/>
              <c:showBubbleSize val="0"/>
              <c:separator>
</c:separator>
              <c:extLst>
                <c:ext xmlns:c15="http://schemas.microsoft.com/office/drawing/2012/chart" uri="{CE6537A1-D6FC-4f65-9D91-7224C49458BB}"/>
                <c:ext xmlns:c16="http://schemas.microsoft.com/office/drawing/2014/chart" uri="{C3380CC4-5D6E-409C-BE32-E72D297353CC}">
                  <c16:uniqueId val="{00000001-78C6-47FA-8FDA-F1D0552237D1}"/>
                </c:ext>
              </c:extLst>
            </c:dLbl>
            <c:dLbl>
              <c:idx val="1"/>
              <c:layout>
                <c:manualLayout>
                  <c:x val="-0.19589168120452011"/>
                  <c:y val="-8.3333333333333329E-2"/>
                </c:manualLayout>
              </c:layout>
              <c:spPr>
                <a:noFill/>
                <a:ln>
                  <a:noFill/>
                </a:ln>
                <a:effectLst/>
              </c:spPr>
              <c:txPr>
                <a:bodyPr rot="0" spcFirstLastPara="1" vertOverflow="ellipsis" horzOverflow="clip" vert="horz" wrap="square" lIns="38100" tIns="19050" rIns="38100" bIns="19050" anchor="ctr" anchorCtr="1">
                  <a:no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1"/>
              <c:showBubbleSize val="0"/>
              <c:extLst>
                <c:ext xmlns:c15="http://schemas.microsoft.com/office/drawing/2012/chart" uri="{CE6537A1-D6FC-4f65-9D91-7224C49458BB}">
                  <c15:spPr xmlns:c15="http://schemas.microsoft.com/office/drawing/2012/chart">
                    <a:prstGeom prst="rect">
                      <a:avLst/>
                    </a:prstGeom>
                    <a:noFill/>
                    <a:ln>
                      <a:noFill/>
                    </a:ln>
                  </c15:spPr>
                </c:ext>
                <c:ext xmlns:c16="http://schemas.microsoft.com/office/drawing/2014/chart" uri="{C3380CC4-5D6E-409C-BE32-E72D297353CC}">
                  <c16:uniqueId val="{00000003-78C6-47FA-8FDA-F1D0552237D1}"/>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1"/>
            <c:showVal val="1"/>
            <c:showCatName val="0"/>
            <c:showSerName val="0"/>
            <c:showPercent val="1"/>
            <c:showBubbleSize val="0"/>
            <c:separator>
</c:separator>
            <c:showLeaderLines val="0"/>
            <c:extLst>
              <c:ext xmlns:c15="http://schemas.microsoft.com/office/drawing/2012/chart" uri="{CE6537A1-D6FC-4f65-9D91-7224C49458BB}"/>
            </c:extLst>
          </c:dLbls>
          <c:cat>
            <c:strRef>
              <c:f>'Pivot Table_Append_MergeDS12_DS'!$O$4:$O$5</c:f>
              <c:strCache>
                <c:ptCount val="2"/>
                <c:pt idx="0">
                  <c:v> Registered</c:v>
                </c:pt>
                <c:pt idx="1">
                  <c:v> Casual</c:v>
                </c:pt>
              </c:strCache>
            </c:strRef>
          </c:cat>
          <c:val>
            <c:numRef>
              <c:f>'Pivot Table_Append_MergeDS12_DS'!$P$4:$P$5</c:f>
              <c:numCache>
                <c:formatCode>General</c:formatCode>
                <c:ptCount val="2"/>
                <c:pt idx="0">
                  <c:v>53383</c:v>
                </c:pt>
                <c:pt idx="1">
                  <c:v>4921</c:v>
                </c:pt>
              </c:numCache>
            </c:numRef>
          </c:val>
          <c:extLst>
            <c:ext xmlns:c16="http://schemas.microsoft.com/office/drawing/2014/chart" uri="{C3380CC4-5D6E-409C-BE32-E72D297353CC}">
              <c16:uniqueId val="{00000004-78C6-47FA-8FDA-F1D0552237D1}"/>
            </c:ext>
          </c:extLst>
        </c:ser>
        <c:dLbls>
          <c:showLegendKey val="0"/>
          <c:showVal val="1"/>
          <c:showCatName val="0"/>
          <c:showSerName val="0"/>
          <c:showPercent val="0"/>
          <c:showBubbleSize val="0"/>
          <c:showLeaderLines val="0"/>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1" i="0" u="none" strike="noStrike" kern="1200" baseline="0">
              <a:ln>
                <a:noFill/>
              </a:ln>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n-US"/>
    </a:p>
  </c:txPr>
  <c:externalData r:id="rId3">
    <c:autoUpdate val="0"/>
  </c:externalData>
  <c:userShapes r:id="rId4"/>
  <c:extLst>
    <c:ext xmlns:c14="http://schemas.microsoft.com/office/drawing/2007/8/2/chart" uri="{781A3756-C4B2-4CAC-9D66-4F8BD8637D16}">
      <c14:pivotOptions>
        <c14:dropZoneFilter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[Bike Rental Project.xlsx]Pivot Table_Append_MergeDS12_DS!PivotTable5</c:name>
    <c:fmtId val="3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t>Rentals By Weekday</a:t>
            </a:r>
          </a:p>
        </c:rich>
      </c:tx>
      <c:layout>
        <c:manualLayout>
          <c:xMode val="edge"/>
          <c:yMode val="edge"/>
          <c:x val="7.6479002624671916E-2"/>
          <c:y val="4.1666666666666664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gradFill>
            <a:gsLst>
              <a:gs pos="100000">
                <a:srgbClr val="D6E6F5"/>
              </a:gs>
              <a:gs pos="0">
                <a:srgbClr val="3742FA"/>
              </a:gs>
              <a:gs pos="98000">
                <a:srgbClr val="1E90FF"/>
              </a:gs>
              <a:gs pos="100000">
                <a:schemeClr val="accent1">
                  <a:lumMod val="45000"/>
                  <a:lumOff val="55000"/>
                </a:schemeClr>
              </a:gs>
              <a:gs pos="100000">
                <a:schemeClr val="accent1">
                  <a:lumMod val="30000"/>
                  <a:lumOff val="70000"/>
                </a:schemeClr>
              </a:gs>
            </a:gsLst>
            <a:lin ang="5400000" scaled="1"/>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gradFill>
            <a:gsLst>
              <a:gs pos="100000">
                <a:srgbClr val="D6E6F5"/>
              </a:gs>
              <a:gs pos="0">
                <a:srgbClr val="3742FA"/>
              </a:gs>
              <a:gs pos="98000">
                <a:srgbClr val="1E90FF"/>
              </a:gs>
              <a:gs pos="100000">
                <a:schemeClr val="accent1">
                  <a:lumMod val="45000"/>
                  <a:lumOff val="55000"/>
                </a:schemeClr>
              </a:gs>
              <a:gs pos="100000">
                <a:schemeClr val="accent1">
                  <a:lumMod val="30000"/>
                  <a:lumOff val="70000"/>
                </a:schemeClr>
              </a:gs>
            </a:gsLst>
            <a:lin ang="5400000" scaled="1"/>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gradFill>
            <a:gsLst>
              <a:gs pos="100000">
                <a:srgbClr val="D6E6F5"/>
              </a:gs>
              <a:gs pos="0">
                <a:srgbClr val="3742FA"/>
              </a:gs>
              <a:gs pos="98000">
                <a:srgbClr val="1E90FF"/>
              </a:gs>
              <a:gs pos="100000">
                <a:schemeClr val="accent1">
                  <a:lumMod val="45000"/>
                  <a:lumOff val="55000"/>
                </a:schemeClr>
              </a:gs>
              <a:gs pos="100000">
                <a:schemeClr val="accent1">
                  <a:lumMod val="30000"/>
                  <a:lumOff val="70000"/>
                </a:schemeClr>
              </a:gs>
            </a:gsLst>
            <a:lin ang="5400000" scaled="1"/>
          </a:gradFill>
          <a:ln>
            <a:noFill/>
          </a:ln>
          <a:effectLst/>
        </c:spPr>
        <c:marker>
          <c:symbol val="none"/>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gradFill>
            <a:gsLst>
              <a:gs pos="100000">
                <a:srgbClr val="D6E6F5"/>
              </a:gs>
              <a:gs pos="0">
                <a:srgbClr val="3742FA"/>
              </a:gs>
              <a:gs pos="98000">
                <a:srgbClr val="1E90FF"/>
              </a:gs>
              <a:gs pos="100000">
                <a:schemeClr val="accent1">
                  <a:lumMod val="45000"/>
                  <a:lumOff val="55000"/>
                </a:schemeClr>
              </a:gs>
              <a:gs pos="100000">
                <a:schemeClr val="accent1">
                  <a:lumMod val="30000"/>
                  <a:lumOff val="70000"/>
                </a:schemeClr>
              </a:gs>
            </a:gsLst>
            <a:lin ang="5400000" scaled="1"/>
          </a:gradFill>
          <a:ln>
            <a:noFill/>
          </a:ln>
          <a:effectLst/>
        </c:spPr>
        <c:marker>
          <c:symbol val="none"/>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gradFill>
            <a:gsLst>
              <a:gs pos="100000">
                <a:srgbClr val="D6E6F5"/>
              </a:gs>
              <a:gs pos="0">
                <a:srgbClr val="3742FA"/>
              </a:gs>
              <a:gs pos="98000">
                <a:srgbClr val="1E90FF"/>
              </a:gs>
              <a:gs pos="100000">
                <a:schemeClr val="accent1">
                  <a:lumMod val="45000"/>
                  <a:lumOff val="55000"/>
                </a:schemeClr>
              </a:gs>
              <a:gs pos="100000">
                <a:schemeClr val="accent1">
                  <a:lumMod val="30000"/>
                  <a:lumOff val="70000"/>
                </a:schemeClr>
              </a:gs>
            </a:gsLst>
            <a:lin ang="5400000" scaled="1"/>
          </a:gradFill>
          <a:ln>
            <a:noFill/>
          </a:ln>
          <a:effectLst/>
        </c:spPr>
        <c:marker>
          <c:symbol val="none"/>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 Table_Append_MergeDS12_DS'!$AB$3</c:f>
              <c:strCache>
                <c:ptCount val="1"/>
                <c:pt idx="0">
                  <c:v>Total</c:v>
                </c:pt>
              </c:strCache>
            </c:strRef>
          </c:tx>
          <c:spPr>
            <a:gradFill>
              <a:gsLst>
                <a:gs pos="100000">
                  <a:srgbClr val="D6E6F5"/>
                </a:gs>
                <a:gs pos="0">
                  <a:srgbClr val="3742FA"/>
                </a:gs>
                <a:gs pos="98000">
                  <a:srgbClr val="1E90FF"/>
                </a:gs>
                <a:gs pos="100000">
                  <a:schemeClr val="accent1">
                    <a:lumMod val="45000"/>
                    <a:lumOff val="55000"/>
                  </a:schemeClr>
                </a:gs>
                <a:gs pos="100000">
                  <a:schemeClr val="accent1">
                    <a:lumMod val="30000"/>
                    <a:lumOff val="70000"/>
                  </a:schemeClr>
                </a:gs>
              </a:gsLst>
              <a:lin ang="5400000" scaled="1"/>
            </a:gradFill>
            <a:ln>
              <a:noFill/>
            </a:ln>
            <a:effectLst/>
          </c:spPr>
          <c:invertIfNegative val="0"/>
          <c:dLbls>
            <c:numFmt formatCode="#,##0.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Table_Append_MergeDS12_DS'!$AA$4:$AA$11</c:f>
              <c:strCache>
                <c:ptCount val="7"/>
                <c:pt idx="0">
                  <c:v>Monday</c:v>
                </c:pt>
                <c:pt idx="1">
                  <c:v>Tuesday</c:v>
                </c:pt>
                <c:pt idx="2">
                  <c:v>Wednesday</c:v>
                </c:pt>
                <c:pt idx="3">
                  <c:v>Friday</c:v>
                </c:pt>
                <c:pt idx="4">
                  <c:v>Saturday</c:v>
                </c:pt>
                <c:pt idx="5">
                  <c:v>Sunday</c:v>
                </c:pt>
                <c:pt idx="6">
                  <c:v>Thrusday</c:v>
                </c:pt>
              </c:strCache>
            </c:strRef>
          </c:cat>
          <c:val>
            <c:numRef>
              <c:f>'Pivot Table_Append_MergeDS12_DS'!$AB$4:$AB$11</c:f>
              <c:numCache>
                <c:formatCode>0.00</c:formatCode>
                <c:ptCount val="7"/>
                <c:pt idx="0">
                  <c:v>65.125</c:v>
                </c:pt>
                <c:pt idx="1">
                  <c:v>59.603053435114504</c:v>
                </c:pt>
                <c:pt idx="2">
                  <c:v>67.468253968253961</c:v>
                </c:pt>
                <c:pt idx="3">
                  <c:v>55.560810810810814</c:v>
                </c:pt>
                <c:pt idx="4">
                  <c:v>44.775757575757574</c:v>
                </c:pt>
                <c:pt idx="5">
                  <c:v>57.631901840490798</c:v>
                </c:pt>
                <c:pt idx="6">
                  <c:v>62.083969465648856</c:v>
                </c:pt>
              </c:numCache>
            </c:numRef>
          </c:val>
          <c:extLst>
            <c:ext xmlns:c16="http://schemas.microsoft.com/office/drawing/2014/chart" uri="{C3380CC4-5D6E-409C-BE32-E72D297353CC}">
              <c16:uniqueId val="{00000000-9B55-43C0-956C-C1FE24C2A2A4}"/>
            </c:ext>
          </c:extLst>
        </c:ser>
        <c:dLbls>
          <c:dLblPos val="outEnd"/>
          <c:showLegendKey val="0"/>
          <c:showVal val="1"/>
          <c:showCatName val="0"/>
          <c:showSerName val="0"/>
          <c:showPercent val="0"/>
          <c:showBubbleSize val="0"/>
        </c:dLbls>
        <c:gapWidth val="182"/>
        <c:axId val="673856831"/>
        <c:axId val="673857311"/>
      </c:barChart>
      <c:catAx>
        <c:axId val="673856831"/>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73857311"/>
        <c:crosses val="autoZero"/>
        <c:auto val="1"/>
        <c:lblAlgn val="ctr"/>
        <c:lblOffset val="100"/>
        <c:noMultiLvlLbl val="0"/>
      </c:catAx>
      <c:valAx>
        <c:axId val="673857311"/>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b="1"/>
                  <a:t>Avg Rentals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7385683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[Bike Rental Project.xlsx]Pivot Table_Append_MergeDS12_DS!PivotTable3</c:name>
    <c:fmtId val="22"/>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b="1"/>
              <a:t>Rentals By Hour</a:t>
            </a:r>
          </a:p>
        </c:rich>
      </c:tx>
      <c:layout>
        <c:manualLayout>
          <c:xMode val="edge"/>
          <c:yMode val="edge"/>
          <c:x val="0.16349300087489063"/>
          <c:y val="3.2407407407407406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gradFill flip="none" rotWithShape="1">
            <a:gsLst>
              <a:gs pos="100000">
                <a:schemeClr val="bg1"/>
              </a:gs>
              <a:gs pos="0">
                <a:srgbClr val="1E90FF">
                  <a:lumMod val="99000"/>
                </a:srgbClr>
              </a:gs>
              <a:gs pos="100000">
                <a:schemeClr val="bg1"/>
              </a:gs>
              <a:gs pos="100000">
                <a:schemeClr val="bg1"/>
              </a:gs>
              <a:gs pos="100000">
                <a:schemeClr val="bg1"/>
              </a:gs>
            </a:gsLst>
            <a:lin ang="5400000" scaled="1"/>
            <a:tileRect/>
          </a:gradFill>
          <a:ln w="28575">
            <a:gradFill flip="none" rotWithShape="1">
              <a:gsLst>
                <a:gs pos="0">
                  <a:srgbClr val="3742FA"/>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tileRect/>
            </a:gra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flip="none" rotWithShape="1">
            <a:gsLst>
              <a:gs pos="100000">
                <a:schemeClr val="bg1"/>
              </a:gs>
              <a:gs pos="0">
                <a:srgbClr val="1E90FF">
                  <a:lumMod val="99000"/>
                </a:srgbClr>
              </a:gs>
              <a:gs pos="100000">
                <a:schemeClr val="bg1"/>
              </a:gs>
              <a:gs pos="100000">
                <a:schemeClr val="bg1"/>
              </a:gs>
              <a:gs pos="100000">
                <a:schemeClr val="bg1"/>
              </a:gs>
            </a:gsLst>
            <a:lin ang="5400000" scaled="1"/>
            <a:tileRect/>
          </a:gradFill>
          <a:ln w="28575">
            <a:gradFill flip="none" rotWithShape="1">
              <a:gsLst>
                <a:gs pos="0">
                  <a:srgbClr val="3742FA"/>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tileRect/>
            </a:gra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flip="none" rotWithShape="1">
            <a:gsLst>
              <a:gs pos="100000">
                <a:schemeClr val="bg1"/>
              </a:gs>
              <a:gs pos="0">
                <a:srgbClr val="1E90FF">
                  <a:lumMod val="99000"/>
                </a:srgbClr>
              </a:gs>
              <a:gs pos="100000">
                <a:schemeClr val="bg1"/>
              </a:gs>
              <a:gs pos="100000">
                <a:schemeClr val="bg1"/>
              </a:gs>
              <a:gs pos="100000">
                <a:schemeClr val="bg1"/>
              </a:gs>
            </a:gsLst>
            <a:lin ang="5400000" scaled="1"/>
            <a:tileRect/>
          </a:gradFill>
          <a:ln w="28575">
            <a:gradFill flip="none" rotWithShape="1">
              <a:gsLst>
                <a:gs pos="0">
                  <a:srgbClr val="3742FA"/>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tileRect/>
            </a:gra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flip="none" rotWithShape="1">
            <a:gsLst>
              <a:gs pos="100000">
                <a:schemeClr val="bg1"/>
              </a:gs>
              <a:gs pos="0">
                <a:srgbClr val="1E90FF">
                  <a:lumMod val="99000"/>
                </a:srgbClr>
              </a:gs>
              <a:gs pos="100000">
                <a:schemeClr val="bg1"/>
              </a:gs>
              <a:gs pos="100000">
                <a:schemeClr val="bg1"/>
              </a:gs>
              <a:gs pos="100000">
                <a:schemeClr val="bg1"/>
              </a:gs>
            </a:gsLst>
            <a:lin ang="5400000" scaled="1"/>
            <a:tileRect/>
          </a:gradFill>
          <a:ln w="28575">
            <a:gradFill flip="none" rotWithShape="1">
              <a:gsLst>
                <a:gs pos="0">
                  <a:srgbClr val="3742FA"/>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tileRect/>
            </a:gra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flip="none" rotWithShape="1">
            <a:gsLst>
              <a:gs pos="100000">
                <a:schemeClr val="bg1"/>
              </a:gs>
              <a:gs pos="0">
                <a:srgbClr val="1E90FF">
                  <a:lumMod val="99000"/>
                </a:srgbClr>
              </a:gs>
              <a:gs pos="100000">
                <a:schemeClr val="bg1"/>
              </a:gs>
              <a:gs pos="100000">
                <a:schemeClr val="bg1"/>
              </a:gs>
              <a:gs pos="100000">
                <a:schemeClr val="bg1"/>
              </a:gs>
            </a:gsLst>
            <a:lin ang="5400000" scaled="1"/>
            <a:tileRect/>
          </a:gradFill>
          <a:ln w="28575">
            <a:gradFill flip="none" rotWithShape="1">
              <a:gsLst>
                <a:gs pos="0">
                  <a:srgbClr val="3742FA"/>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tileRect/>
            </a:gra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areaChart>
        <c:grouping val="standard"/>
        <c:varyColors val="0"/>
        <c:ser>
          <c:idx val="0"/>
          <c:order val="0"/>
          <c:tx>
            <c:strRef>
              <c:f>'Pivot Table_Append_MergeDS12_DS'!$U$3</c:f>
              <c:strCache>
                <c:ptCount val="1"/>
                <c:pt idx="0">
                  <c:v>Total</c:v>
                </c:pt>
              </c:strCache>
            </c:strRef>
          </c:tx>
          <c:spPr>
            <a:gradFill flip="none" rotWithShape="1">
              <a:gsLst>
                <a:gs pos="100000">
                  <a:schemeClr val="bg1"/>
                </a:gs>
                <a:gs pos="0">
                  <a:srgbClr val="1E90FF">
                    <a:lumMod val="99000"/>
                  </a:srgbClr>
                </a:gs>
                <a:gs pos="100000">
                  <a:schemeClr val="bg1"/>
                </a:gs>
                <a:gs pos="100000">
                  <a:schemeClr val="bg1"/>
                </a:gs>
                <a:gs pos="100000">
                  <a:schemeClr val="bg1"/>
                </a:gs>
              </a:gsLst>
              <a:lin ang="5400000" scaled="1"/>
              <a:tileRect/>
            </a:gradFill>
            <a:ln w="28575">
              <a:gradFill flip="none" rotWithShape="1">
                <a:gsLst>
                  <a:gs pos="0">
                    <a:srgbClr val="3742FA"/>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tileRect/>
              </a:gradFill>
            </a:ln>
            <a:effectLst/>
          </c:spPr>
          <c:cat>
            <c:strRef>
              <c:f>'Pivot Table_Append_MergeDS12_DS'!$T$4:$T$28</c:f>
              <c:strCache>
                <c:ptCount val="24"/>
                <c:pt idx="0">
                  <c:v>12:00:00 AM</c:v>
                </c:pt>
                <c:pt idx="1">
                  <c:v>01:00:00 AM</c:v>
                </c:pt>
                <c:pt idx="2">
                  <c:v>02:00:00 AM</c:v>
                </c:pt>
                <c:pt idx="3">
                  <c:v>03:00:00 AM</c:v>
                </c:pt>
                <c:pt idx="4">
                  <c:v>04:00:00 AM</c:v>
                </c:pt>
                <c:pt idx="5">
                  <c:v>05:00:00 AM</c:v>
                </c:pt>
                <c:pt idx="6">
                  <c:v>06:00:00 AM</c:v>
                </c:pt>
                <c:pt idx="7">
                  <c:v>07:00:00 AM</c:v>
                </c:pt>
                <c:pt idx="8">
                  <c:v>08:00:00 AM</c:v>
                </c:pt>
                <c:pt idx="9">
                  <c:v>09:00:00 AM</c:v>
                </c:pt>
                <c:pt idx="10">
                  <c:v>10:00:00 AM</c:v>
                </c:pt>
                <c:pt idx="11">
                  <c:v>11:00:00 AM</c:v>
                </c:pt>
                <c:pt idx="12">
                  <c:v>12:00:00 PM</c:v>
                </c:pt>
                <c:pt idx="13">
                  <c:v>01:00:00 PM</c:v>
                </c:pt>
                <c:pt idx="14">
                  <c:v>02:00:00 PM</c:v>
                </c:pt>
                <c:pt idx="15">
                  <c:v>03:00:00 PM</c:v>
                </c:pt>
                <c:pt idx="16">
                  <c:v>04:00:00 PM</c:v>
                </c:pt>
                <c:pt idx="17">
                  <c:v>05:00:00 PM</c:v>
                </c:pt>
                <c:pt idx="18">
                  <c:v>06:00:00 PM</c:v>
                </c:pt>
                <c:pt idx="19">
                  <c:v>07:00:00 PM</c:v>
                </c:pt>
                <c:pt idx="20">
                  <c:v>08:00:00 PM</c:v>
                </c:pt>
                <c:pt idx="21">
                  <c:v>09:00:00 PM</c:v>
                </c:pt>
                <c:pt idx="22">
                  <c:v>10:00:00 PM</c:v>
                </c:pt>
                <c:pt idx="23">
                  <c:v>11:00:00 PM</c:v>
                </c:pt>
              </c:strCache>
            </c:strRef>
          </c:cat>
          <c:val>
            <c:numRef>
              <c:f>'Pivot Table_Append_MergeDS12_DS'!$U$4:$U$28</c:f>
              <c:numCache>
                <c:formatCode>0.00</c:formatCode>
                <c:ptCount val="24"/>
                <c:pt idx="0">
                  <c:v>16.348837209302324</c:v>
                </c:pt>
                <c:pt idx="1">
                  <c:v>10.697674418604651</c:v>
                </c:pt>
                <c:pt idx="2">
                  <c:v>7.1707317073170733</c:v>
                </c:pt>
                <c:pt idx="3">
                  <c:v>4.870967741935484</c:v>
                </c:pt>
                <c:pt idx="4">
                  <c:v>2.15625</c:v>
                </c:pt>
                <c:pt idx="5">
                  <c:v>4.2051282051282053</c:v>
                </c:pt>
                <c:pt idx="6">
                  <c:v>19.571428571428573</c:v>
                </c:pt>
                <c:pt idx="7">
                  <c:v>54.395348837209305</c:v>
                </c:pt>
                <c:pt idx="8">
                  <c:v>128.28571428571428</c:v>
                </c:pt>
                <c:pt idx="9">
                  <c:v>87.428571428571431</c:v>
                </c:pt>
                <c:pt idx="10">
                  <c:v>53.642857142857146</c:v>
                </c:pt>
                <c:pt idx="11">
                  <c:v>59.38095238095238</c:v>
                </c:pt>
                <c:pt idx="12">
                  <c:v>76.348837209302332</c:v>
                </c:pt>
                <c:pt idx="13">
                  <c:v>78.511627906976742</c:v>
                </c:pt>
                <c:pt idx="14">
                  <c:v>74.418604651162795</c:v>
                </c:pt>
                <c:pt idx="15">
                  <c:v>77.95348837209302</c:v>
                </c:pt>
                <c:pt idx="16">
                  <c:v>89.272727272727266</c:v>
                </c:pt>
                <c:pt idx="17">
                  <c:v>140.20454545454547</c:v>
                </c:pt>
                <c:pt idx="18">
                  <c:v>122.86046511627907</c:v>
                </c:pt>
                <c:pt idx="19">
                  <c:v>85.139534883720927</c:v>
                </c:pt>
                <c:pt idx="20">
                  <c:v>61.767441860465119</c:v>
                </c:pt>
                <c:pt idx="21">
                  <c:v>46.418604651162788</c:v>
                </c:pt>
                <c:pt idx="22">
                  <c:v>35.069767441860463</c:v>
                </c:pt>
                <c:pt idx="23">
                  <c:v>25.186046511627907</c:v>
                </c:pt>
              </c:numCache>
            </c:numRef>
          </c:val>
          <c:extLst>
            <c:ext xmlns:c16="http://schemas.microsoft.com/office/drawing/2014/chart" uri="{C3380CC4-5D6E-409C-BE32-E72D297353CC}">
              <c16:uniqueId val="{00000000-C720-4B03-87FB-FD411F48DA6A}"/>
            </c:ext>
          </c:extLst>
        </c:ser>
        <c:dLbls>
          <c:showLegendKey val="0"/>
          <c:showVal val="0"/>
          <c:showCatName val="0"/>
          <c:showSerName val="0"/>
          <c:showPercent val="0"/>
          <c:showBubbleSize val="0"/>
        </c:dLbls>
        <c:axId val="1902926863"/>
        <c:axId val="1902921103"/>
      </c:areaChart>
      <c:catAx>
        <c:axId val="1902926863"/>
        <c:scaling>
          <c:orientation val="minMax"/>
        </c:scaling>
        <c:delete val="0"/>
        <c:axPos val="b"/>
        <c:numFmt formatCode="[$-10409]hh:mm\ AM/PM;@"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02921103"/>
        <c:crosses val="autoZero"/>
        <c:auto val="1"/>
        <c:lblAlgn val="ctr"/>
        <c:lblOffset val="100"/>
        <c:noMultiLvlLbl val="0"/>
      </c:catAx>
      <c:valAx>
        <c:axId val="1902921103"/>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b="1"/>
                  <a:t>Average Rentals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02926863"/>
        <c:crosses val="autoZero"/>
        <c:crossBetween val="midCat"/>
      </c:valAx>
      <c:spPr>
        <a:no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[Bike Rental Project.xlsx]Pivot Table_Append_MergeDS12_DS!PivotTable4</c:name>
    <c:fmtId val="2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t>Rentals By Weather Condition</a:t>
            </a:r>
          </a:p>
        </c:rich>
      </c:tx>
      <c:layout>
        <c:manualLayout>
          <c:xMode val="edge"/>
          <c:yMode val="edge"/>
          <c:x val="7.8111111111111117E-2"/>
          <c:y val="2.7777777777777776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rgbClr val="3742FA"/>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rgbClr val="FF0000"/>
          </a:solidFill>
          <a:ln>
            <a:noFill/>
          </a:ln>
          <a:effectLst/>
        </c:spPr>
      </c:pivotFmt>
      <c:pivotFmt>
        <c:idx val="2"/>
        <c:spPr>
          <a:solidFill>
            <a:srgbClr val="FFC000"/>
          </a:solidFill>
          <a:ln>
            <a:noFill/>
          </a:ln>
          <a:effectLst/>
        </c:spPr>
      </c:pivotFmt>
      <c:pivotFmt>
        <c:idx val="3"/>
        <c:spPr>
          <a:solidFill>
            <a:schemeClr val="accent1">
              <a:lumMod val="60000"/>
              <a:lumOff val="40000"/>
            </a:schemeClr>
          </a:solidFill>
          <a:ln>
            <a:noFill/>
          </a:ln>
          <a:effectLst/>
        </c:spPr>
      </c:pivotFmt>
      <c:pivotFmt>
        <c:idx val="4"/>
        <c:spPr>
          <a:solidFill>
            <a:srgbClr val="3742FA"/>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rgbClr val="1E90FF"/>
          </a:solidFill>
          <a:ln>
            <a:noFill/>
          </a:ln>
          <a:effectLst/>
        </c:spPr>
      </c:pivotFmt>
      <c:pivotFmt>
        <c:idx val="6"/>
        <c:spPr>
          <a:solidFill>
            <a:schemeClr val="accent1">
              <a:lumMod val="60000"/>
              <a:lumOff val="40000"/>
            </a:schemeClr>
          </a:solidFill>
          <a:ln>
            <a:noFill/>
          </a:ln>
          <a:effectLst/>
        </c:spPr>
      </c:pivotFmt>
      <c:pivotFmt>
        <c:idx val="7"/>
        <c:spPr>
          <a:solidFill>
            <a:srgbClr val="FFC000"/>
          </a:solidFill>
          <a:ln>
            <a:noFill/>
          </a:ln>
          <a:effectLst/>
        </c:spPr>
      </c:pivotFmt>
      <c:pivotFmt>
        <c:idx val="8"/>
        <c:spPr>
          <a:solidFill>
            <a:srgbClr val="FF0000"/>
          </a:solidFill>
          <a:ln>
            <a:noFill/>
          </a:ln>
          <a:effectLst/>
        </c:spPr>
      </c:pivotFmt>
      <c:pivotFmt>
        <c:idx val="9"/>
        <c:spPr>
          <a:solidFill>
            <a:srgbClr val="3742FA"/>
          </a:solidFill>
          <a:ln>
            <a:noFill/>
          </a:ln>
          <a:effectLst/>
        </c:spPr>
        <c:marker>
          <c:symbol val="none"/>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0"/>
        <c:spPr>
          <a:solidFill>
            <a:srgbClr val="1E90FF"/>
          </a:solidFill>
          <a:ln>
            <a:noFill/>
          </a:ln>
          <a:effectLst/>
        </c:spPr>
      </c:pivotFmt>
      <c:pivotFmt>
        <c:idx val="11"/>
        <c:spPr>
          <a:solidFill>
            <a:schemeClr val="accent1">
              <a:lumMod val="60000"/>
              <a:lumOff val="40000"/>
            </a:schemeClr>
          </a:solidFill>
          <a:ln>
            <a:noFill/>
          </a:ln>
          <a:effectLst/>
        </c:spPr>
      </c:pivotFmt>
      <c:pivotFmt>
        <c:idx val="12"/>
        <c:spPr>
          <a:solidFill>
            <a:srgbClr val="FFC000"/>
          </a:solidFill>
          <a:ln>
            <a:noFill/>
          </a:ln>
          <a:effectLst/>
        </c:spPr>
      </c:pivotFmt>
      <c:pivotFmt>
        <c:idx val="13"/>
        <c:spPr>
          <a:solidFill>
            <a:srgbClr val="FF0000"/>
          </a:solidFill>
          <a:ln>
            <a:noFill/>
          </a:ln>
          <a:effectLst/>
        </c:spPr>
      </c:pivotFmt>
      <c:pivotFmt>
        <c:idx val="14"/>
        <c:spPr>
          <a:solidFill>
            <a:srgbClr val="3742FA"/>
          </a:solidFill>
          <a:ln>
            <a:noFill/>
          </a:ln>
          <a:effectLst/>
        </c:spPr>
        <c:marker>
          <c:symbol val="none"/>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5"/>
        <c:spPr>
          <a:solidFill>
            <a:srgbClr val="1E90FF"/>
          </a:solidFill>
          <a:ln>
            <a:noFill/>
          </a:ln>
          <a:effectLst/>
        </c:spPr>
      </c:pivotFmt>
      <c:pivotFmt>
        <c:idx val="16"/>
        <c:spPr>
          <a:solidFill>
            <a:schemeClr val="accent1">
              <a:lumMod val="60000"/>
              <a:lumOff val="40000"/>
            </a:schemeClr>
          </a:solidFill>
          <a:ln>
            <a:noFill/>
          </a:ln>
          <a:effectLst/>
        </c:spPr>
      </c:pivotFmt>
      <c:pivotFmt>
        <c:idx val="17"/>
        <c:spPr>
          <a:solidFill>
            <a:srgbClr val="FFC000"/>
          </a:solidFill>
          <a:ln>
            <a:noFill/>
          </a:ln>
          <a:effectLst/>
        </c:spPr>
      </c:pivotFmt>
      <c:pivotFmt>
        <c:idx val="18"/>
        <c:spPr>
          <a:solidFill>
            <a:srgbClr val="FF0000"/>
          </a:solidFill>
          <a:ln>
            <a:noFill/>
          </a:ln>
          <a:effectLst/>
        </c:spPr>
      </c:pivotFmt>
      <c:pivotFmt>
        <c:idx val="19"/>
        <c:spPr>
          <a:solidFill>
            <a:srgbClr val="3742FA"/>
          </a:solidFill>
          <a:ln>
            <a:noFill/>
          </a:ln>
          <a:effectLst/>
        </c:spPr>
        <c:marker>
          <c:symbol val="none"/>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0"/>
        <c:spPr>
          <a:solidFill>
            <a:srgbClr val="1E90FF"/>
          </a:solidFill>
          <a:ln>
            <a:noFill/>
          </a:ln>
          <a:effectLst/>
        </c:spPr>
      </c:pivotFmt>
      <c:pivotFmt>
        <c:idx val="21"/>
        <c:spPr>
          <a:solidFill>
            <a:schemeClr val="accent1">
              <a:lumMod val="60000"/>
              <a:lumOff val="40000"/>
            </a:schemeClr>
          </a:solidFill>
          <a:ln>
            <a:noFill/>
          </a:ln>
          <a:effectLst/>
        </c:spPr>
      </c:pivotFmt>
      <c:pivotFmt>
        <c:idx val="22"/>
        <c:spPr>
          <a:solidFill>
            <a:srgbClr val="FFC000"/>
          </a:solidFill>
          <a:ln>
            <a:noFill/>
          </a:ln>
          <a:effectLst/>
        </c:spPr>
      </c:pivotFmt>
      <c:pivotFmt>
        <c:idx val="23"/>
        <c:spPr>
          <a:solidFill>
            <a:srgbClr val="FF0000"/>
          </a:solidFill>
          <a:ln>
            <a:noFill/>
          </a:ln>
          <a:effectLst/>
        </c:spPr>
      </c:pivotFmt>
    </c:pivotFmts>
    <c:plotArea>
      <c:layout/>
      <c:barChart>
        <c:barDir val="col"/>
        <c:grouping val="clustered"/>
        <c:varyColors val="0"/>
        <c:ser>
          <c:idx val="0"/>
          <c:order val="0"/>
          <c:tx>
            <c:strRef>
              <c:f>'Pivot Table_Append_MergeDS12_DS'!$Y$3</c:f>
              <c:strCache>
                <c:ptCount val="1"/>
                <c:pt idx="0">
                  <c:v>Total</c:v>
                </c:pt>
              </c:strCache>
            </c:strRef>
          </c:tx>
          <c:spPr>
            <a:solidFill>
              <a:srgbClr val="3742FA"/>
            </a:solidFill>
            <a:ln>
              <a:noFill/>
            </a:ln>
            <a:effectLst/>
          </c:spPr>
          <c:invertIfNegative val="0"/>
          <c:dPt>
            <c:idx val="0"/>
            <c:invertIfNegative val="0"/>
            <c:bubble3D val="0"/>
            <c:spPr>
              <a:solidFill>
                <a:srgbClr val="1E90FF"/>
              </a:solidFill>
              <a:ln>
                <a:noFill/>
              </a:ln>
              <a:effectLst/>
            </c:spPr>
            <c:extLst>
              <c:ext xmlns:c16="http://schemas.microsoft.com/office/drawing/2014/chart" uri="{C3380CC4-5D6E-409C-BE32-E72D297353CC}">
                <c16:uniqueId val="{00000001-2711-4C90-AE91-B5ED0393FD6D}"/>
              </c:ext>
            </c:extLst>
          </c:dPt>
          <c:dPt>
            <c:idx val="1"/>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03-2711-4C90-AE91-B5ED0393FD6D}"/>
              </c:ext>
            </c:extLst>
          </c:dPt>
          <c:dPt>
            <c:idx val="2"/>
            <c:invertIfNegative val="0"/>
            <c:bubble3D val="0"/>
            <c:spPr>
              <a:solidFill>
                <a:srgbClr val="FFC000"/>
              </a:solidFill>
              <a:ln>
                <a:noFill/>
              </a:ln>
              <a:effectLst/>
            </c:spPr>
            <c:extLst>
              <c:ext xmlns:c16="http://schemas.microsoft.com/office/drawing/2014/chart" uri="{C3380CC4-5D6E-409C-BE32-E72D297353CC}">
                <c16:uniqueId val="{00000005-2711-4C90-AE91-B5ED0393FD6D}"/>
              </c:ext>
            </c:extLst>
          </c:dPt>
          <c:dPt>
            <c:idx val="3"/>
            <c:invertIfNegative val="0"/>
            <c:bubble3D val="0"/>
            <c:spPr>
              <a:solidFill>
                <a:srgbClr val="FF0000"/>
              </a:solidFill>
              <a:ln>
                <a:noFill/>
              </a:ln>
              <a:effectLst/>
            </c:spPr>
            <c:extLst>
              <c:ext xmlns:c16="http://schemas.microsoft.com/office/drawing/2014/chart" uri="{C3380CC4-5D6E-409C-BE32-E72D297353CC}">
                <c16:uniqueId val="{00000007-2711-4C90-AE91-B5ED0393FD6D}"/>
              </c:ext>
            </c:extLst>
          </c:dPt>
          <c:dLbls>
            <c:numFmt formatCode="#,##0.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Table_Append_MergeDS12_DS'!$X$4:$X$8</c:f>
              <c:strCache>
                <c:ptCount val="4"/>
                <c:pt idx="0">
                  <c:v>Clear or Good Weather</c:v>
                </c:pt>
                <c:pt idx="1">
                  <c:v>Mist or Cloudy Weather</c:v>
                </c:pt>
                <c:pt idx="2">
                  <c:v>Light Rain or Snow</c:v>
                </c:pt>
                <c:pt idx="3">
                  <c:v>Heavy Rain or Strom</c:v>
                </c:pt>
              </c:strCache>
            </c:strRef>
          </c:cat>
          <c:val>
            <c:numRef>
              <c:f>'Pivot Table_Append_MergeDS12_DS'!$Y$4:$Y$8</c:f>
              <c:numCache>
                <c:formatCode>0.00</c:formatCode>
                <c:ptCount val="4"/>
                <c:pt idx="0">
                  <c:v>61.671617161716171</c:v>
                </c:pt>
                <c:pt idx="1">
                  <c:v>58.595469255663431</c:v>
                </c:pt>
                <c:pt idx="2">
                  <c:v>33.202380952380949</c:v>
                </c:pt>
                <c:pt idx="3">
                  <c:v>36</c:v>
                </c:pt>
              </c:numCache>
            </c:numRef>
          </c:val>
          <c:extLst>
            <c:ext xmlns:c16="http://schemas.microsoft.com/office/drawing/2014/chart" uri="{C3380CC4-5D6E-409C-BE32-E72D297353CC}">
              <c16:uniqueId val="{00000008-2711-4C90-AE91-B5ED0393FD6D}"/>
            </c:ext>
          </c:extLst>
        </c:ser>
        <c:dLbls>
          <c:dLblPos val="outEnd"/>
          <c:showLegendKey val="0"/>
          <c:showVal val="1"/>
          <c:showCatName val="0"/>
          <c:showSerName val="0"/>
          <c:showPercent val="0"/>
          <c:showBubbleSize val="0"/>
        </c:dLbls>
        <c:gapWidth val="219"/>
        <c:overlap val="-27"/>
        <c:axId val="673952831"/>
        <c:axId val="673953791"/>
      </c:barChart>
      <c:catAx>
        <c:axId val="67395283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73953791"/>
        <c:crosses val="autoZero"/>
        <c:auto val="1"/>
        <c:lblAlgn val="ctr"/>
        <c:lblOffset val="100"/>
        <c:noMultiLvlLbl val="0"/>
      </c:catAx>
      <c:valAx>
        <c:axId val="673953791"/>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b="1"/>
                  <a:t>Average Rentals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7395283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0.32236</cdr:x>
      <cdr:y>0.51019</cdr:y>
    </cdr:from>
    <cdr:to>
      <cdr:x>0.69605</cdr:x>
      <cdr:y>0.66941</cdr:y>
    </cdr:to>
    <cdr:sp macro="" textlink="">
      <cdr:nvSpPr>
        <cdr:cNvPr id="2" name="TextBox 3">
          <a:extLst xmlns:a="http://schemas.openxmlformats.org/drawingml/2006/main">
            <a:ext uri="{FF2B5EF4-FFF2-40B4-BE49-F238E27FC236}">
              <a16:creationId xmlns:a16="http://schemas.microsoft.com/office/drawing/2014/main" id="{89899AA4-1F81-19B1-539D-59C2DA60B9D0}"/>
            </a:ext>
          </a:extLst>
        </cdr:cNvPr>
        <cdr:cNvSpPr txBox="1"/>
      </cdr:nvSpPr>
      <cdr:spPr>
        <a:xfrm xmlns:a="http://schemas.openxmlformats.org/drawingml/2006/main">
          <a:off x="820420" y="1399540"/>
          <a:ext cx="951094" cy="436786"/>
        </a:xfrm>
        <a:prstGeom xmlns:a="http://schemas.openxmlformats.org/drawingml/2006/main" prst="rect">
          <a:avLst/>
        </a:prstGeom>
        <a:noFill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none" rtlCol="0" anchor="ctr">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pPr algn="ctr"/>
          <a:r>
            <a:rPr lang="en-IN" sz="1100" b="1"/>
            <a:t>58,304</a:t>
          </a:r>
        </a:p>
        <a:p xmlns:a="http://schemas.openxmlformats.org/drawingml/2006/main">
          <a:pPr algn="ctr"/>
          <a:r>
            <a:rPr lang="en-IN" sz="1100" b="1"/>
            <a:t>Total Rentals</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4973B4-F27B-48C8-AEF0-1265B83DDC94}" type="datetimeFigureOut">
              <a:rPr lang="en-IN" smtClean="0"/>
              <a:t>25-05-2026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49B335-3857-4287-A3D9-E06BF82B6CFE}" type="slidenum">
              <a:rPr lang="en-IN" smtClean="0"/>
              <a:t>‹#›</a:t>
            </a:fld>
            <a:endParaRPr lang="en-IN"/>
          </a:p>
        </p:txBody>
      </p:sp>
    </p:spTree>
    <p:extLst>
      <p:ext uri="{BB962C8B-B14F-4D97-AF65-F5344CB8AC3E}">
        <p14:creationId xmlns:p14="http://schemas.microsoft.com/office/powerpoint/2010/main" val="4184524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B49B335-3857-4287-A3D9-E06BF82B6CFE}" type="slidenum">
              <a:rPr lang="en-IN" smtClean="0"/>
              <a:t>1</a:t>
            </a:fld>
            <a:endParaRPr lang="en-IN"/>
          </a:p>
        </p:txBody>
      </p:sp>
    </p:spTree>
    <p:extLst>
      <p:ext uri="{BB962C8B-B14F-4D97-AF65-F5344CB8AC3E}">
        <p14:creationId xmlns:p14="http://schemas.microsoft.com/office/powerpoint/2010/main" val="9550533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B49B335-3857-4287-A3D9-E06BF82B6CFE}" type="slidenum">
              <a:rPr lang="en-IN" smtClean="0"/>
              <a:t>7</a:t>
            </a:fld>
            <a:endParaRPr lang="en-IN"/>
          </a:p>
        </p:txBody>
      </p:sp>
    </p:spTree>
    <p:extLst>
      <p:ext uri="{BB962C8B-B14F-4D97-AF65-F5344CB8AC3E}">
        <p14:creationId xmlns:p14="http://schemas.microsoft.com/office/powerpoint/2010/main" val="18038059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9EA3E-DFA7-1EE3-3505-C92A139DEB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463361-44E1-D8B3-7F1D-89AF7B9706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FF5FC4-D294-2965-A5E9-FC8CF8E5257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54BD550-3EBB-4644-8356-94A2C9344B4D}"/>
              </a:ext>
            </a:extLst>
          </p:cNvPr>
          <p:cNvSpPr>
            <a:spLocks noGrp="1"/>
          </p:cNvSpPr>
          <p:nvPr>
            <p:ph type="sldNum" sz="quarter" idx="5"/>
          </p:nvPr>
        </p:nvSpPr>
        <p:spPr/>
        <p:txBody>
          <a:bodyPr/>
          <a:lstStyle/>
          <a:p>
            <a:fld id="{3B49B335-3857-4287-A3D9-E06BF82B6CFE}" type="slidenum">
              <a:rPr lang="en-IN" smtClean="0"/>
              <a:t>8</a:t>
            </a:fld>
            <a:endParaRPr lang="en-IN"/>
          </a:p>
        </p:txBody>
      </p:sp>
    </p:spTree>
    <p:extLst>
      <p:ext uri="{BB962C8B-B14F-4D97-AF65-F5344CB8AC3E}">
        <p14:creationId xmlns:p14="http://schemas.microsoft.com/office/powerpoint/2010/main" val="27766414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5/25/2026</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64997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5/25/2026</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608443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5/25/2026</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127874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5/25/2026</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5253815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5/25/2026</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2746892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5/25/2026</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1588196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5/25/2026</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9103626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5/25/2026</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9152821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5/25/2026</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6498574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5/25/2026</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885336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5/25/2026</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9407148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5/25/2026</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130357160"/>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45" r:id="rId6"/>
    <p:sldLayoutId id="2147483741" r:id="rId7"/>
    <p:sldLayoutId id="2147483742" r:id="rId8"/>
    <p:sldLayoutId id="2147483743" r:id="rId9"/>
    <p:sldLayoutId id="2147483744" r:id="rId10"/>
    <p:sldLayoutId id="214748374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8511ACF4-E4D6-D813-7BF1-7D2FDEFF5E45}"/>
              </a:ext>
            </a:extLst>
          </p:cNvPr>
          <p:cNvPicPr>
            <a:picLocks noChangeAspect="1"/>
          </p:cNvPicPr>
          <p:nvPr/>
        </p:nvPicPr>
        <p:blipFill>
          <a:blip r:embed="rId3"/>
          <a:srcRect t="1108" r="-1" b="-1"/>
          <a:stretch>
            <a:fillRect/>
          </a:stretch>
        </p:blipFill>
        <p:spPr>
          <a:xfrm>
            <a:off x="3523488" y="10"/>
            <a:ext cx="8668512" cy="6857990"/>
          </a:xfrm>
          <a:prstGeom prst="rect">
            <a:avLst/>
          </a:prstGeom>
        </p:spPr>
      </p:pic>
      <p:sp>
        <p:nvSpPr>
          <p:cNvPr id="24" name="Rectangle 23">
            <a:extLst>
              <a:ext uri="{FF2B5EF4-FFF2-40B4-BE49-F238E27FC236}">
                <a16:creationId xmlns:a16="http://schemas.microsoft.com/office/drawing/2014/main" id="{A44CD100-6267-4E62-AA64-2182A3A6A1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20F97A4-5E6D-DE96-703F-233F865CBCEB}"/>
              </a:ext>
            </a:extLst>
          </p:cNvPr>
          <p:cNvSpPr>
            <a:spLocks noGrp="1"/>
          </p:cNvSpPr>
          <p:nvPr>
            <p:ph type="ctrTitle"/>
          </p:nvPr>
        </p:nvSpPr>
        <p:spPr>
          <a:xfrm>
            <a:off x="477980" y="1122362"/>
            <a:ext cx="6660239" cy="3282489"/>
          </a:xfrm>
        </p:spPr>
        <p:txBody>
          <a:bodyPr anchor="b">
            <a:normAutofit/>
          </a:bodyPr>
          <a:lstStyle/>
          <a:p>
            <a:r>
              <a:rPr lang="en-IN" sz="4000" b="1" dirty="0">
                <a:solidFill>
                  <a:schemeClr val="bg1"/>
                </a:solidFill>
              </a:rPr>
              <a:t>BIKE RENTAL OPERATION ANALYSIS </a:t>
            </a:r>
          </a:p>
        </p:txBody>
      </p:sp>
      <p:sp>
        <p:nvSpPr>
          <p:cNvPr id="3" name="Subtitle 2">
            <a:extLst>
              <a:ext uri="{FF2B5EF4-FFF2-40B4-BE49-F238E27FC236}">
                <a16:creationId xmlns:a16="http://schemas.microsoft.com/office/drawing/2014/main" id="{01700E33-FEAF-EE84-8AE5-C7D10676A13F}"/>
              </a:ext>
            </a:extLst>
          </p:cNvPr>
          <p:cNvSpPr>
            <a:spLocks noGrp="1"/>
          </p:cNvSpPr>
          <p:nvPr>
            <p:ph type="subTitle" idx="1"/>
          </p:nvPr>
        </p:nvSpPr>
        <p:spPr>
          <a:xfrm>
            <a:off x="477980" y="4872922"/>
            <a:ext cx="4023359" cy="1208141"/>
          </a:xfrm>
        </p:spPr>
        <p:txBody>
          <a:bodyPr>
            <a:normAutofit/>
          </a:bodyPr>
          <a:lstStyle/>
          <a:p>
            <a:r>
              <a:rPr lang="en-IN" sz="2000" dirty="0">
                <a:solidFill>
                  <a:schemeClr val="bg1"/>
                </a:solidFill>
              </a:rPr>
              <a:t>Presented By : </a:t>
            </a:r>
          </a:p>
          <a:p>
            <a:r>
              <a:rPr lang="en-IN" sz="2000" dirty="0">
                <a:solidFill>
                  <a:schemeClr val="bg1"/>
                </a:solidFill>
              </a:rPr>
              <a:t>Saayan Samanta</a:t>
            </a:r>
          </a:p>
        </p:txBody>
      </p:sp>
      <p:sp>
        <p:nvSpPr>
          <p:cNvPr id="25" name="Rectangle 2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descr="Best Website Development Company in ...">
            <a:extLst>
              <a:ext uri="{FF2B5EF4-FFF2-40B4-BE49-F238E27FC236}">
                <a16:creationId xmlns:a16="http://schemas.microsoft.com/office/drawing/2014/main" id="{E61B9FF7-A7FA-B0F6-55E2-54C34648D9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8788" y="345425"/>
            <a:ext cx="3314700" cy="13811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0165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C9A9DA9-7DC8-488B-A882-123947B0F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3857" y="633619"/>
            <a:ext cx="6838569"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9A1A94E-49BA-8C2B-B828-8963B69EDDFB}"/>
              </a:ext>
            </a:extLst>
          </p:cNvPr>
          <p:cNvSpPr>
            <a:spLocks noGrp="1"/>
          </p:cNvSpPr>
          <p:nvPr>
            <p:ph type="title"/>
          </p:nvPr>
        </p:nvSpPr>
        <p:spPr>
          <a:xfrm>
            <a:off x="5359510" y="978619"/>
            <a:ext cx="5991244" cy="1106424"/>
          </a:xfrm>
        </p:spPr>
        <p:txBody>
          <a:bodyPr>
            <a:normAutofit/>
          </a:bodyPr>
          <a:lstStyle/>
          <a:p>
            <a:r>
              <a:rPr lang="en-IN" sz="3200">
                <a:latin typeface="Abadi" panose="020B0604020104020204" pitchFamily="34" charset="0"/>
              </a:rPr>
              <a:t>Dataset Overview</a:t>
            </a:r>
          </a:p>
        </p:txBody>
      </p:sp>
      <p:sp>
        <p:nvSpPr>
          <p:cNvPr id="19" name="Rectangle 18">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79848" y="1171300"/>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67859" y="2093976"/>
            <a:ext cx="5846683"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Content Placeholder 6">
            <a:extLst>
              <a:ext uri="{FF2B5EF4-FFF2-40B4-BE49-F238E27FC236}">
                <a16:creationId xmlns:a16="http://schemas.microsoft.com/office/drawing/2014/main" id="{DB5FDEAE-BAA8-4085-4C25-307ED1AB64EA}"/>
              </a:ext>
            </a:extLst>
          </p:cNvPr>
          <p:cNvSpPr>
            <a:spLocks noGrp="1"/>
          </p:cNvSpPr>
          <p:nvPr>
            <p:ph idx="1"/>
          </p:nvPr>
        </p:nvSpPr>
        <p:spPr>
          <a:xfrm>
            <a:off x="5356861" y="2252870"/>
            <a:ext cx="5993892" cy="3560251"/>
          </a:xfrm>
        </p:spPr>
        <p:txBody>
          <a:bodyPr>
            <a:normAutofit/>
          </a:bodyPr>
          <a:lstStyle/>
          <a:p>
            <a:pPr marL="0" indent="0">
              <a:buNone/>
            </a:pPr>
            <a:r>
              <a:rPr lang="en-US" sz="1800" dirty="0"/>
              <a:t>Bike Rental Dataset contains hourly records of a bike-sharing system collected over different days, seasons, and weather conditions. The main purpose of the dataset is to analyze how factors such as time, weather, holidays, and seasons affect bike rental patterns.</a:t>
            </a:r>
          </a:p>
          <a:p>
            <a:pPr marL="0" indent="0">
              <a:buNone/>
            </a:pPr>
            <a:r>
              <a:rPr lang="en-US" sz="1800" dirty="0"/>
              <a:t>The dataset is useful for identifying customer behavior, peak rental periods, and environmental conditions that influence bike usage. It helps businesses and city transportation systems make better operational and planning decisions.</a:t>
            </a:r>
          </a:p>
        </p:txBody>
      </p:sp>
      <p:graphicFrame>
        <p:nvGraphicFramePr>
          <p:cNvPr id="10" name="Table 9">
            <a:extLst>
              <a:ext uri="{FF2B5EF4-FFF2-40B4-BE49-F238E27FC236}">
                <a16:creationId xmlns:a16="http://schemas.microsoft.com/office/drawing/2014/main" id="{532E03DA-FA2A-D48E-1501-918E0A137D70}"/>
              </a:ext>
            </a:extLst>
          </p:cNvPr>
          <p:cNvGraphicFramePr>
            <a:graphicFrameLocks noGrp="1"/>
          </p:cNvGraphicFramePr>
          <p:nvPr>
            <p:extLst>
              <p:ext uri="{D42A27DB-BD31-4B8C-83A1-F6EECF244321}">
                <p14:modId xmlns:p14="http://schemas.microsoft.com/office/powerpoint/2010/main" val="2900293037"/>
              </p:ext>
            </p:extLst>
          </p:nvPr>
        </p:nvGraphicFramePr>
        <p:xfrm>
          <a:off x="414528" y="868296"/>
          <a:ext cx="4033647" cy="5020825"/>
        </p:xfrm>
        <a:graphic>
          <a:graphicData uri="http://schemas.openxmlformats.org/drawingml/2006/table">
            <a:tbl>
              <a:tblPr/>
              <a:tblGrid>
                <a:gridCol w="1093039">
                  <a:extLst>
                    <a:ext uri="{9D8B030D-6E8A-4147-A177-3AD203B41FA5}">
                      <a16:colId xmlns:a16="http://schemas.microsoft.com/office/drawing/2014/main" val="1500809747"/>
                    </a:ext>
                  </a:extLst>
                </a:gridCol>
                <a:gridCol w="2940608">
                  <a:extLst>
                    <a:ext uri="{9D8B030D-6E8A-4147-A177-3AD203B41FA5}">
                      <a16:colId xmlns:a16="http://schemas.microsoft.com/office/drawing/2014/main" val="1415853833"/>
                    </a:ext>
                  </a:extLst>
                </a:gridCol>
              </a:tblGrid>
              <a:tr h="269368">
                <a:tc>
                  <a:txBody>
                    <a:bodyPr/>
                    <a:lstStyle/>
                    <a:p>
                      <a:pPr>
                        <a:buNone/>
                      </a:pPr>
                      <a:r>
                        <a:rPr lang="en-IN" sz="1100">
                          <a:solidFill>
                            <a:schemeClr val="accent2"/>
                          </a:solidFill>
                        </a:rPr>
                        <a:t>Field Name</a:t>
                      </a:r>
                    </a:p>
                  </a:txBody>
                  <a:tcPr marL="59596" marR="59596" marT="29798" marB="29798" anchor="ctr">
                    <a:lnL>
                      <a:noFill/>
                    </a:lnL>
                    <a:lnR>
                      <a:noFill/>
                    </a:lnR>
                    <a:lnT>
                      <a:noFill/>
                    </a:lnT>
                    <a:lnB>
                      <a:noFill/>
                    </a:lnB>
                    <a:noFill/>
                  </a:tcPr>
                </a:tc>
                <a:tc>
                  <a:txBody>
                    <a:bodyPr/>
                    <a:lstStyle/>
                    <a:p>
                      <a:pPr>
                        <a:buNone/>
                      </a:pPr>
                      <a:r>
                        <a:rPr lang="en-IN" sz="1100" dirty="0">
                          <a:solidFill>
                            <a:schemeClr val="accent2"/>
                          </a:solidFill>
                        </a:rPr>
                        <a:t>Description</a:t>
                      </a:r>
                    </a:p>
                  </a:txBody>
                  <a:tcPr marL="59596" marR="59596" marT="29798" marB="29798" anchor="ctr">
                    <a:lnL>
                      <a:noFill/>
                    </a:lnL>
                    <a:lnR>
                      <a:noFill/>
                    </a:lnR>
                    <a:lnT>
                      <a:noFill/>
                    </a:lnT>
                    <a:lnB>
                      <a:noFill/>
                    </a:lnB>
                    <a:noFill/>
                  </a:tcPr>
                </a:tc>
                <a:extLst>
                  <a:ext uri="{0D108BD9-81ED-4DB2-BD59-A6C34878D82A}">
                    <a16:rowId xmlns:a16="http://schemas.microsoft.com/office/drawing/2014/main" val="2769833333"/>
                  </a:ext>
                </a:extLst>
              </a:tr>
              <a:tr h="269368">
                <a:tc>
                  <a:txBody>
                    <a:bodyPr/>
                    <a:lstStyle/>
                    <a:p>
                      <a:pPr>
                        <a:buNone/>
                      </a:pPr>
                      <a:r>
                        <a:rPr lang="en-IN" sz="1100">
                          <a:latin typeface="Courier New" panose="02070309020205020404" pitchFamily="49" charset="0"/>
                        </a:rPr>
                        <a:t>instant</a:t>
                      </a:r>
                      <a:endParaRPr lang="en-IN" sz="1100"/>
                    </a:p>
                  </a:txBody>
                  <a:tcPr marL="59596" marR="59596" marT="29798" marB="29798" anchor="ctr">
                    <a:lnL>
                      <a:noFill/>
                    </a:lnL>
                    <a:lnR>
                      <a:noFill/>
                    </a:lnR>
                    <a:lnT>
                      <a:noFill/>
                    </a:lnT>
                    <a:lnB>
                      <a:noFill/>
                    </a:lnB>
                    <a:noFill/>
                  </a:tcPr>
                </a:tc>
                <a:tc>
                  <a:txBody>
                    <a:bodyPr/>
                    <a:lstStyle/>
                    <a:p>
                      <a:pPr>
                        <a:buNone/>
                      </a:pPr>
                      <a:r>
                        <a:rPr lang="en-US" sz="1100"/>
                        <a:t>Unique record ID for each entry</a:t>
                      </a:r>
                    </a:p>
                  </a:txBody>
                  <a:tcPr marL="59596" marR="59596" marT="29798" marB="29798" anchor="ctr">
                    <a:lnL>
                      <a:noFill/>
                    </a:lnL>
                    <a:lnR>
                      <a:noFill/>
                    </a:lnR>
                    <a:lnT>
                      <a:noFill/>
                    </a:lnT>
                    <a:lnB>
                      <a:noFill/>
                    </a:lnB>
                    <a:noFill/>
                  </a:tcPr>
                </a:tc>
                <a:extLst>
                  <a:ext uri="{0D108BD9-81ED-4DB2-BD59-A6C34878D82A}">
                    <a16:rowId xmlns:a16="http://schemas.microsoft.com/office/drawing/2014/main" val="3539683922"/>
                  </a:ext>
                </a:extLst>
              </a:tr>
              <a:tr h="269368">
                <a:tc>
                  <a:txBody>
                    <a:bodyPr/>
                    <a:lstStyle/>
                    <a:p>
                      <a:pPr>
                        <a:buNone/>
                      </a:pPr>
                      <a:r>
                        <a:rPr lang="en-IN" sz="1100">
                          <a:latin typeface="Courier New" panose="02070309020205020404" pitchFamily="49" charset="0"/>
                        </a:rPr>
                        <a:t>dteday</a:t>
                      </a:r>
                      <a:endParaRPr lang="en-IN" sz="1100"/>
                    </a:p>
                  </a:txBody>
                  <a:tcPr marL="59596" marR="59596" marT="29798" marB="29798" anchor="ctr">
                    <a:lnL>
                      <a:noFill/>
                    </a:lnL>
                    <a:lnR>
                      <a:noFill/>
                    </a:lnR>
                    <a:lnT>
                      <a:noFill/>
                    </a:lnT>
                    <a:lnB>
                      <a:noFill/>
                    </a:lnB>
                    <a:noFill/>
                  </a:tcPr>
                </a:tc>
                <a:tc>
                  <a:txBody>
                    <a:bodyPr/>
                    <a:lstStyle/>
                    <a:p>
                      <a:pPr>
                        <a:buNone/>
                      </a:pPr>
                      <a:r>
                        <a:rPr lang="en-US" sz="1100"/>
                        <a:t>Date of the rental record</a:t>
                      </a:r>
                    </a:p>
                  </a:txBody>
                  <a:tcPr marL="59596" marR="59596" marT="29798" marB="29798" anchor="ctr">
                    <a:lnL>
                      <a:noFill/>
                    </a:lnL>
                    <a:lnR>
                      <a:noFill/>
                    </a:lnR>
                    <a:lnT>
                      <a:noFill/>
                    </a:lnT>
                    <a:lnB>
                      <a:noFill/>
                    </a:lnB>
                    <a:noFill/>
                  </a:tcPr>
                </a:tc>
                <a:extLst>
                  <a:ext uri="{0D108BD9-81ED-4DB2-BD59-A6C34878D82A}">
                    <a16:rowId xmlns:a16="http://schemas.microsoft.com/office/drawing/2014/main" val="4095453604"/>
                  </a:ext>
                </a:extLst>
              </a:tr>
              <a:tr h="441569">
                <a:tc>
                  <a:txBody>
                    <a:bodyPr/>
                    <a:lstStyle/>
                    <a:p>
                      <a:pPr>
                        <a:buNone/>
                      </a:pPr>
                      <a:r>
                        <a:rPr lang="en-IN" sz="1100">
                          <a:latin typeface="Courier New" panose="02070309020205020404" pitchFamily="49" charset="0"/>
                        </a:rPr>
                        <a:t>season</a:t>
                      </a:r>
                      <a:endParaRPr lang="en-IN" sz="1100"/>
                    </a:p>
                  </a:txBody>
                  <a:tcPr marL="59596" marR="59596" marT="29798" marB="29798" anchor="ctr">
                    <a:lnL>
                      <a:noFill/>
                    </a:lnL>
                    <a:lnR>
                      <a:noFill/>
                    </a:lnR>
                    <a:lnT>
                      <a:noFill/>
                    </a:lnT>
                    <a:lnB>
                      <a:noFill/>
                    </a:lnB>
                    <a:noFill/>
                  </a:tcPr>
                </a:tc>
                <a:tc>
                  <a:txBody>
                    <a:bodyPr/>
                    <a:lstStyle/>
                    <a:p>
                      <a:pPr>
                        <a:buNone/>
                      </a:pPr>
                      <a:r>
                        <a:rPr lang="en-US" sz="1100"/>
                        <a:t>Season category (1: Spring, 2: Summer, 3: Fall, 4: Winter)</a:t>
                      </a:r>
                    </a:p>
                  </a:txBody>
                  <a:tcPr marL="59596" marR="59596" marT="29798" marB="29798" anchor="ctr">
                    <a:lnL>
                      <a:noFill/>
                    </a:lnL>
                    <a:lnR>
                      <a:noFill/>
                    </a:lnR>
                    <a:lnT>
                      <a:noFill/>
                    </a:lnT>
                    <a:lnB>
                      <a:noFill/>
                    </a:lnB>
                    <a:noFill/>
                  </a:tcPr>
                </a:tc>
                <a:extLst>
                  <a:ext uri="{0D108BD9-81ED-4DB2-BD59-A6C34878D82A}">
                    <a16:rowId xmlns:a16="http://schemas.microsoft.com/office/drawing/2014/main" val="4138092234"/>
                  </a:ext>
                </a:extLst>
              </a:tr>
              <a:tr h="269368">
                <a:tc>
                  <a:txBody>
                    <a:bodyPr/>
                    <a:lstStyle/>
                    <a:p>
                      <a:pPr>
                        <a:buNone/>
                      </a:pPr>
                      <a:r>
                        <a:rPr lang="en-IN" sz="1100">
                          <a:latin typeface="Courier New" panose="02070309020205020404" pitchFamily="49" charset="0"/>
                        </a:rPr>
                        <a:t>yr</a:t>
                      </a:r>
                      <a:endParaRPr lang="en-IN" sz="1100"/>
                    </a:p>
                  </a:txBody>
                  <a:tcPr marL="59596" marR="59596" marT="29798" marB="29798" anchor="ctr">
                    <a:lnL>
                      <a:noFill/>
                    </a:lnL>
                    <a:lnR>
                      <a:noFill/>
                    </a:lnR>
                    <a:lnT>
                      <a:noFill/>
                    </a:lnT>
                    <a:lnB>
                      <a:noFill/>
                    </a:lnB>
                    <a:noFill/>
                  </a:tcPr>
                </a:tc>
                <a:tc>
                  <a:txBody>
                    <a:bodyPr/>
                    <a:lstStyle/>
                    <a:p>
                      <a:pPr>
                        <a:buNone/>
                      </a:pPr>
                      <a:r>
                        <a:rPr lang="en-US" sz="1100"/>
                        <a:t>Year of record (0: 2011, 1: 2012)</a:t>
                      </a:r>
                    </a:p>
                  </a:txBody>
                  <a:tcPr marL="59596" marR="59596" marT="29798" marB="29798" anchor="ctr">
                    <a:lnL>
                      <a:noFill/>
                    </a:lnL>
                    <a:lnR>
                      <a:noFill/>
                    </a:lnR>
                    <a:lnT>
                      <a:noFill/>
                    </a:lnT>
                    <a:lnB>
                      <a:noFill/>
                    </a:lnB>
                    <a:noFill/>
                  </a:tcPr>
                </a:tc>
                <a:extLst>
                  <a:ext uri="{0D108BD9-81ED-4DB2-BD59-A6C34878D82A}">
                    <a16:rowId xmlns:a16="http://schemas.microsoft.com/office/drawing/2014/main" val="3654462825"/>
                  </a:ext>
                </a:extLst>
              </a:tr>
              <a:tr h="269368">
                <a:tc>
                  <a:txBody>
                    <a:bodyPr/>
                    <a:lstStyle/>
                    <a:p>
                      <a:pPr>
                        <a:buNone/>
                      </a:pPr>
                      <a:r>
                        <a:rPr lang="en-IN" sz="1100">
                          <a:latin typeface="Courier New" panose="02070309020205020404" pitchFamily="49" charset="0"/>
                        </a:rPr>
                        <a:t>mnth</a:t>
                      </a:r>
                      <a:endParaRPr lang="en-IN" sz="1100"/>
                    </a:p>
                  </a:txBody>
                  <a:tcPr marL="59596" marR="59596" marT="29798" marB="29798" anchor="ctr">
                    <a:lnL>
                      <a:noFill/>
                    </a:lnL>
                    <a:lnR>
                      <a:noFill/>
                    </a:lnR>
                    <a:lnT>
                      <a:noFill/>
                    </a:lnT>
                    <a:lnB>
                      <a:noFill/>
                    </a:lnB>
                    <a:noFill/>
                  </a:tcPr>
                </a:tc>
                <a:tc>
                  <a:txBody>
                    <a:bodyPr/>
                    <a:lstStyle/>
                    <a:p>
                      <a:pPr>
                        <a:buNone/>
                      </a:pPr>
                      <a:r>
                        <a:rPr lang="en-IN" sz="1100"/>
                        <a:t>Month number (1–12)</a:t>
                      </a:r>
                    </a:p>
                  </a:txBody>
                  <a:tcPr marL="59596" marR="59596" marT="29798" marB="29798" anchor="ctr">
                    <a:lnL>
                      <a:noFill/>
                    </a:lnL>
                    <a:lnR>
                      <a:noFill/>
                    </a:lnR>
                    <a:lnT>
                      <a:noFill/>
                    </a:lnT>
                    <a:lnB>
                      <a:noFill/>
                    </a:lnB>
                    <a:noFill/>
                  </a:tcPr>
                </a:tc>
                <a:extLst>
                  <a:ext uri="{0D108BD9-81ED-4DB2-BD59-A6C34878D82A}">
                    <a16:rowId xmlns:a16="http://schemas.microsoft.com/office/drawing/2014/main" val="903400587"/>
                  </a:ext>
                </a:extLst>
              </a:tr>
              <a:tr h="269368">
                <a:tc>
                  <a:txBody>
                    <a:bodyPr/>
                    <a:lstStyle/>
                    <a:p>
                      <a:pPr>
                        <a:buNone/>
                      </a:pPr>
                      <a:r>
                        <a:rPr lang="en-IN" sz="1100">
                          <a:latin typeface="Courier New" panose="02070309020205020404" pitchFamily="49" charset="0"/>
                        </a:rPr>
                        <a:t>hr</a:t>
                      </a:r>
                      <a:endParaRPr lang="en-IN" sz="1100"/>
                    </a:p>
                  </a:txBody>
                  <a:tcPr marL="59596" marR="59596" marT="29798" marB="29798" anchor="ctr">
                    <a:lnL>
                      <a:noFill/>
                    </a:lnL>
                    <a:lnR>
                      <a:noFill/>
                    </a:lnR>
                    <a:lnT>
                      <a:noFill/>
                    </a:lnT>
                    <a:lnB>
                      <a:noFill/>
                    </a:lnB>
                    <a:noFill/>
                  </a:tcPr>
                </a:tc>
                <a:tc>
                  <a:txBody>
                    <a:bodyPr/>
                    <a:lstStyle/>
                    <a:p>
                      <a:pPr>
                        <a:buNone/>
                      </a:pPr>
                      <a:r>
                        <a:rPr lang="en-US" sz="1100"/>
                        <a:t>Hour of the day (0–23)</a:t>
                      </a:r>
                    </a:p>
                  </a:txBody>
                  <a:tcPr marL="59596" marR="59596" marT="29798" marB="29798" anchor="ctr">
                    <a:lnL>
                      <a:noFill/>
                    </a:lnL>
                    <a:lnR>
                      <a:noFill/>
                    </a:lnR>
                    <a:lnT>
                      <a:noFill/>
                    </a:lnT>
                    <a:lnB>
                      <a:noFill/>
                    </a:lnB>
                    <a:noFill/>
                  </a:tcPr>
                </a:tc>
                <a:extLst>
                  <a:ext uri="{0D108BD9-81ED-4DB2-BD59-A6C34878D82A}">
                    <a16:rowId xmlns:a16="http://schemas.microsoft.com/office/drawing/2014/main" val="1989809737"/>
                  </a:ext>
                </a:extLst>
              </a:tr>
              <a:tr h="269368">
                <a:tc>
                  <a:txBody>
                    <a:bodyPr/>
                    <a:lstStyle/>
                    <a:p>
                      <a:pPr>
                        <a:buNone/>
                      </a:pPr>
                      <a:r>
                        <a:rPr lang="en-IN" sz="1100">
                          <a:latin typeface="Courier New" panose="02070309020205020404" pitchFamily="49" charset="0"/>
                        </a:rPr>
                        <a:t>holiday</a:t>
                      </a:r>
                      <a:endParaRPr lang="en-IN" sz="1100"/>
                    </a:p>
                  </a:txBody>
                  <a:tcPr marL="59596" marR="59596" marT="29798" marB="29798" anchor="ctr">
                    <a:lnL>
                      <a:noFill/>
                    </a:lnL>
                    <a:lnR>
                      <a:noFill/>
                    </a:lnR>
                    <a:lnT>
                      <a:noFill/>
                    </a:lnT>
                    <a:lnB>
                      <a:noFill/>
                    </a:lnB>
                    <a:noFill/>
                  </a:tcPr>
                </a:tc>
                <a:tc>
                  <a:txBody>
                    <a:bodyPr/>
                    <a:lstStyle/>
                    <a:p>
                      <a:pPr>
                        <a:buNone/>
                      </a:pPr>
                      <a:r>
                        <a:rPr lang="en-US" sz="1100"/>
                        <a:t>Whether the day is a holiday or not</a:t>
                      </a:r>
                    </a:p>
                  </a:txBody>
                  <a:tcPr marL="59596" marR="59596" marT="29798" marB="29798" anchor="ctr">
                    <a:lnL>
                      <a:noFill/>
                    </a:lnL>
                    <a:lnR>
                      <a:noFill/>
                    </a:lnR>
                    <a:lnT>
                      <a:noFill/>
                    </a:lnT>
                    <a:lnB>
                      <a:noFill/>
                    </a:lnB>
                    <a:noFill/>
                  </a:tcPr>
                </a:tc>
                <a:extLst>
                  <a:ext uri="{0D108BD9-81ED-4DB2-BD59-A6C34878D82A}">
                    <a16:rowId xmlns:a16="http://schemas.microsoft.com/office/drawing/2014/main" val="1189810505"/>
                  </a:ext>
                </a:extLst>
              </a:tr>
              <a:tr h="269368">
                <a:tc>
                  <a:txBody>
                    <a:bodyPr/>
                    <a:lstStyle/>
                    <a:p>
                      <a:pPr>
                        <a:buNone/>
                      </a:pPr>
                      <a:r>
                        <a:rPr lang="en-IN" sz="1100">
                          <a:latin typeface="Courier New" panose="02070309020205020404" pitchFamily="49" charset="0"/>
                        </a:rPr>
                        <a:t>weekday</a:t>
                      </a:r>
                      <a:endParaRPr lang="en-IN" sz="1100"/>
                    </a:p>
                  </a:txBody>
                  <a:tcPr marL="59596" marR="59596" marT="29798" marB="29798" anchor="ctr">
                    <a:lnL>
                      <a:noFill/>
                    </a:lnL>
                    <a:lnR>
                      <a:noFill/>
                    </a:lnR>
                    <a:lnT>
                      <a:noFill/>
                    </a:lnT>
                    <a:lnB>
                      <a:noFill/>
                    </a:lnB>
                    <a:noFill/>
                  </a:tcPr>
                </a:tc>
                <a:tc>
                  <a:txBody>
                    <a:bodyPr/>
                    <a:lstStyle/>
                    <a:p>
                      <a:pPr>
                        <a:buNone/>
                      </a:pPr>
                      <a:r>
                        <a:rPr lang="en-IN" sz="1100"/>
                        <a:t>Day of the week</a:t>
                      </a:r>
                    </a:p>
                  </a:txBody>
                  <a:tcPr marL="59596" marR="59596" marT="29798" marB="29798" anchor="ctr">
                    <a:lnL>
                      <a:noFill/>
                    </a:lnL>
                    <a:lnR>
                      <a:noFill/>
                    </a:lnR>
                    <a:lnT>
                      <a:noFill/>
                    </a:lnT>
                    <a:lnB>
                      <a:noFill/>
                    </a:lnB>
                    <a:noFill/>
                  </a:tcPr>
                </a:tc>
                <a:extLst>
                  <a:ext uri="{0D108BD9-81ED-4DB2-BD59-A6C34878D82A}">
                    <a16:rowId xmlns:a16="http://schemas.microsoft.com/office/drawing/2014/main" val="2834459680"/>
                  </a:ext>
                </a:extLst>
              </a:tr>
              <a:tr h="269368">
                <a:tc>
                  <a:txBody>
                    <a:bodyPr/>
                    <a:lstStyle/>
                    <a:p>
                      <a:pPr>
                        <a:buNone/>
                      </a:pPr>
                      <a:r>
                        <a:rPr lang="en-IN" sz="1100">
                          <a:latin typeface="Courier New" panose="02070309020205020404" pitchFamily="49" charset="0"/>
                        </a:rPr>
                        <a:t>workingday</a:t>
                      </a:r>
                      <a:endParaRPr lang="en-IN" sz="1100"/>
                    </a:p>
                  </a:txBody>
                  <a:tcPr marL="59596" marR="59596" marT="29798" marB="29798" anchor="ctr">
                    <a:lnL>
                      <a:noFill/>
                    </a:lnL>
                    <a:lnR>
                      <a:noFill/>
                    </a:lnR>
                    <a:lnT>
                      <a:noFill/>
                    </a:lnT>
                    <a:lnB>
                      <a:noFill/>
                    </a:lnB>
                    <a:noFill/>
                  </a:tcPr>
                </a:tc>
                <a:tc>
                  <a:txBody>
                    <a:bodyPr/>
                    <a:lstStyle/>
                    <a:p>
                      <a:pPr>
                        <a:buNone/>
                      </a:pPr>
                      <a:r>
                        <a:rPr lang="en-US" sz="1100"/>
                        <a:t>Indicates working day or weekend/holiday</a:t>
                      </a:r>
                    </a:p>
                  </a:txBody>
                  <a:tcPr marL="59596" marR="59596" marT="29798" marB="29798" anchor="ctr">
                    <a:lnL>
                      <a:noFill/>
                    </a:lnL>
                    <a:lnR>
                      <a:noFill/>
                    </a:lnR>
                    <a:lnT>
                      <a:noFill/>
                    </a:lnT>
                    <a:lnB>
                      <a:noFill/>
                    </a:lnB>
                    <a:noFill/>
                  </a:tcPr>
                </a:tc>
                <a:extLst>
                  <a:ext uri="{0D108BD9-81ED-4DB2-BD59-A6C34878D82A}">
                    <a16:rowId xmlns:a16="http://schemas.microsoft.com/office/drawing/2014/main" val="1188474815"/>
                  </a:ext>
                </a:extLst>
              </a:tr>
              <a:tr h="269368">
                <a:tc>
                  <a:txBody>
                    <a:bodyPr/>
                    <a:lstStyle/>
                    <a:p>
                      <a:pPr>
                        <a:buNone/>
                      </a:pPr>
                      <a:r>
                        <a:rPr lang="en-IN" sz="1100">
                          <a:latin typeface="Courier New" panose="02070309020205020404" pitchFamily="49" charset="0"/>
                        </a:rPr>
                        <a:t>weathersit</a:t>
                      </a:r>
                      <a:endParaRPr lang="en-IN" sz="1100"/>
                    </a:p>
                  </a:txBody>
                  <a:tcPr marL="59596" marR="59596" marT="29798" marB="29798" anchor="ctr">
                    <a:lnL>
                      <a:noFill/>
                    </a:lnL>
                    <a:lnR>
                      <a:noFill/>
                    </a:lnR>
                    <a:lnT>
                      <a:noFill/>
                    </a:lnT>
                    <a:lnB>
                      <a:noFill/>
                    </a:lnB>
                    <a:noFill/>
                  </a:tcPr>
                </a:tc>
                <a:tc>
                  <a:txBody>
                    <a:bodyPr/>
                    <a:lstStyle/>
                    <a:p>
                      <a:pPr>
                        <a:buNone/>
                      </a:pPr>
                      <a:r>
                        <a:rPr lang="en-IN" sz="1100"/>
                        <a:t>Weather condition category</a:t>
                      </a:r>
                    </a:p>
                  </a:txBody>
                  <a:tcPr marL="59596" marR="59596" marT="29798" marB="29798" anchor="ctr">
                    <a:lnL>
                      <a:noFill/>
                    </a:lnL>
                    <a:lnR>
                      <a:noFill/>
                    </a:lnR>
                    <a:lnT>
                      <a:noFill/>
                    </a:lnT>
                    <a:lnB>
                      <a:noFill/>
                    </a:lnB>
                    <a:noFill/>
                  </a:tcPr>
                </a:tc>
                <a:extLst>
                  <a:ext uri="{0D108BD9-81ED-4DB2-BD59-A6C34878D82A}">
                    <a16:rowId xmlns:a16="http://schemas.microsoft.com/office/drawing/2014/main" val="1799463787"/>
                  </a:ext>
                </a:extLst>
              </a:tr>
              <a:tr h="269368">
                <a:tc>
                  <a:txBody>
                    <a:bodyPr/>
                    <a:lstStyle/>
                    <a:p>
                      <a:pPr>
                        <a:buNone/>
                      </a:pPr>
                      <a:r>
                        <a:rPr lang="en-IN" sz="1100">
                          <a:latin typeface="Courier New" panose="02070309020205020404" pitchFamily="49" charset="0"/>
                        </a:rPr>
                        <a:t>temp</a:t>
                      </a:r>
                      <a:endParaRPr lang="en-IN" sz="1100"/>
                    </a:p>
                  </a:txBody>
                  <a:tcPr marL="59596" marR="59596" marT="29798" marB="29798" anchor="ctr">
                    <a:lnL>
                      <a:noFill/>
                    </a:lnL>
                    <a:lnR>
                      <a:noFill/>
                    </a:lnR>
                    <a:lnT>
                      <a:noFill/>
                    </a:lnT>
                    <a:lnB>
                      <a:noFill/>
                    </a:lnB>
                    <a:noFill/>
                  </a:tcPr>
                </a:tc>
                <a:tc>
                  <a:txBody>
                    <a:bodyPr/>
                    <a:lstStyle/>
                    <a:p>
                      <a:pPr>
                        <a:buNone/>
                      </a:pPr>
                      <a:r>
                        <a:rPr lang="en-IN" sz="1100"/>
                        <a:t>Normalized temperature</a:t>
                      </a:r>
                    </a:p>
                  </a:txBody>
                  <a:tcPr marL="59596" marR="59596" marT="29798" marB="29798" anchor="ctr">
                    <a:lnL>
                      <a:noFill/>
                    </a:lnL>
                    <a:lnR>
                      <a:noFill/>
                    </a:lnR>
                    <a:lnT>
                      <a:noFill/>
                    </a:lnT>
                    <a:lnB>
                      <a:noFill/>
                    </a:lnB>
                    <a:noFill/>
                  </a:tcPr>
                </a:tc>
                <a:extLst>
                  <a:ext uri="{0D108BD9-81ED-4DB2-BD59-A6C34878D82A}">
                    <a16:rowId xmlns:a16="http://schemas.microsoft.com/office/drawing/2014/main" val="3525153473"/>
                  </a:ext>
                </a:extLst>
              </a:tr>
              <a:tr h="269368">
                <a:tc>
                  <a:txBody>
                    <a:bodyPr/>
                    <a:lstStyle/>
                    <a:p>
                      <a:pPr>
                        <a:buNone/>
                      </a:pPr>
                      <a:r>
                        <a:rPr lang="en-IN" sz="1100">
                          <a:latin typeface="Courier New" panose="02070309020205020404" pitchFamily="49" charset="0"/>
                        </a:rPr>
                        <a:t>atemp</a:t>
                      </a:r>
                      <a:endParaRPr lang="en-IN" sz="1100"/>
                    </a:p>
                  </a:txBody>
                  <a:tcPr marL="59596" marR="59596" marT="29798" marB="29798" anchor="ctr">
                    <a:lnL>
                      <a:noFill/>
                    </a:lnL>
                    <a:lnR>
                      <a:noFill/>
                    </a:lnR>
                    <a:lnT>
                      <a:noFill/>
                    </a:lnT>
                    <a:lnB>
                      <a:noFill/>
                    </a:lnB>
                    <a:noFill/>
                  </a:tcPr>
                </a:tc>
                <a:tc>
                  <a:txBody>
                    <a:bodyPr/>
                    <a:lstStyle/>
                    <a:p>
                      <a:pPr>
                        <a:buNone/>
                      </a:pPr>
                      <a:r>
                        <a:rPr lang="en-IN" sz="1100"/>
                        <a:t>Feels-like temperature</a:t>
                      </a:r>
                    </a:p>
                  </a:txBody>
                  <a:tcPr marL="59596" marR="59596" marT="29798" marB="29798" anchor="ctr">
                    <a:lnL>
                      <a:noFill/>
                    </a:lnL>
                    <a:lnR>
                      <a:noFill/>
                    </a:lnR>
                    <a:lnT>
                      <a:noFill/>
                    </a:lnT>
                    <a:lnB>
                      <a:noFill/>
                    </a:lnB>
                    <a:noFill/>
                  </a:tcPr>
                </a:tc>
                <a:extLst>
                  <a:ext uri="{0D108BD9-81ED-4DB2-BD59-A6C34878D82A}">
                    <a16:rowId xmlns:a16="http://schemas.microsoft.com/office/drawing/2014/main" val="3464537266"/>
                  </a:ext>
                </a:extLst>
              </a:tr>
              <a:tr h="269368">
                <a:tc>
                  <a:txBody>
                    <a:bodyPr/>
                    <a:lstStyle/>
                    <a:p>
                      <a:pPr>
                        <a:buNone/>
                      </a:pPr>
                      <a:r>
                        <a:rPr lang="en-IN" sz="1100">
                          <a:latin typeface="Courier New" panose="02070309020205020404" pitchFamily="49" charset="0"/>
                        </a:rPr>
                        <a:t>hum</a:t>
                      </a:r>
                      <a:endParaRPr lang="en-IN" sz="1100"/>
                    </a:p>
                  </a:txBody>
                  <a:tcPr marL="59596" marR="59596" marT="29798" marB="29798" anchor="ctr">
                    <a:lnL>
                      <a:noFill/>
                    </a:lnL>
                    <a:lnR>
                      <a:noFill/>
                    </a:lnR>
                    <a:lnT>
                      <a:noFill/>
                    </a:lnT>
                    <a:lnB>
                      <a:noFill/>
                    </a:lnB>
                    <a:noFill/>
                  </a:tcPr>
                </a:tc>
                <a:tc>
                  <a:txBody>
                    <a:bodyPr/>
                    <a:lstStyle/>
                    <a:p>
                      <a:pPr>
                        <a:buNone/>
                      </a:pPr>
                      <a:r>
                        <a:rPr lang="en-IN" sz="1100"/>
                        <a:t>Humidity level</a:t>
                      </a:r>
                    </a:p>
                  </a:txBody>
                  <a:tcPr marL="59596" marR="59596" marT="29798" marB="29798" anchor="ctr">
                    <a:lnL>
                      <a:noFill/>
                    </a:lnL>
                    <a:lnR>
                      <a:noFill/>
                    </a:lnR>
                    <a:lnT>
                      <a:noFill/>
                    </a:lnT>
                    <a:lnB>
                      <a:noFill/>
                    </a:lnB>
                    <a:noFill/>
                  </a:tcPr>
                </a:tc>
                <a:extLst>
                  <a:ext uri="{0D108BD9-81ED-4DB2-BD59-A6C34878D82A}">
                    <a16:rowId xmlns:a16="http://schemas.microsoft.com/office/drawing/2014/main" val="2440298692"/>
                  </a:ext>
                </a:extLst>
              </a:tr>
              <a:tr h="269368">
                <a:tc>
                  <a:txBody>
                    <a:bodyPr/>
                    <a:lstStyle/>
                    <a:p>
                      <a:pPr>
                        <a:buNone/>
                      </a:pPr>
                      <a:r>
                        <a:rPr lang="en-IN" sz="1100">
                          <a:latin typeface="Courier New" panose="02070309020205020404" pitchFamily="49" charset="0"/>
                        </a:rPr>
                        <a:t>windspeed</a:t>
                      </a:r>
                      <a:endParaRPr lang="en-IN" sz="1100"/>
                    </a:p>
                  </a:txBody>
                  <a:tcPr marL="59596" marR="59596" marT="29798" marB="29798" anchor="ctr">
                    <a:lnL>
                      <a:noFill/>
                    </a:lnL>
                    <a:lnR>
                      <a:noFill/>
                    </a:lnR>
                    <a:lnT>
                      <a:noFill/>
                    </a:lnT>
                    <a:lnB>
                      <a:noFill/>
                    </a:lnB>
                    <a:noFill/>
                  </a:tcPr>
                </a:tc>
                <a:tc>
                  <a:txBody>
                    <a:bodyPr/>
                    <a:lstStyle/>
                    <a:p>
                      <a:pPr>
                        <a:buNone/>
                      </a:pPr>
                      <a:r>
                        <a:rPr lang="en-IN" sz="1100"/>
                        <a:t>Wind speed value</a:t>
                      </a:r>
                    </a:p>
                  </a:txBody>
                  <a:tcPr marL="59596" marR="59596" marT="29798" marB="29798" anchor="ctr">
                    <a:lnL>
                      <a:noFill/>
                    </a:lnL>
                    <a:lnR>
                      <a:noFill/>
                    </a:lnR>
                    <a:lnT>
                      <a:noFill/>
                    </a:lnT>
                    <a:lnB>
                      <a:noFill/>
                    </a:lnB>
                    <a:noFill/>
                  </a:tcPr>
                </a:tc>
                <a:extLst>
                  <a:ext uri="{0D108BD9-81ED-4DB2-BD59-A6C34878D82A}">
                    <a16:rowId xmlns:a16="http://schemas.microsoft.com/office/drawing/2014/main" val="418457715"/>
                  </a:ext>
                </a:extLst>
              </a:tr>
              <a:tr h="269368">
                <a:tc>
                  <a:txBody>
                    <a:bodyPr/>
                    <a:lstStyle/>
                    <a:p>
                      <a:pPr>
                        <a:buNone/>
                      </a:pPr>
                      <a:r>
                        <a:rPr lang="en-IN" sz="1100">
                          <a:latin typeface="Courier New" panose="02070309020205020404" pitchFamily="49" charset="0"/>
                        </a:rPr>
                        <a:t>casual</a:t>
                      </a:r>
                      <a:endParaRPr lang="en-IN" sz="1100"/>
                    </a:p>
                  </a:txBody>
                  <a:tcPr marL="59596" marR="59596" marT="29798" marB="29798" anchor="ctr">
                    <a:lnL>
                      <a:noFill/>
                    </a:lnL>
                    <a:lnR>
                      <a:noFill/>
                    </a:lnR>
                    <a:lnT>
                      <a:noFill/>
                    </a:lnT>
                    <a:lnB>
                      <a:noFill/>
                    </a:lnB>
                    <a:noFill/>
                  </a:tcPr>
                </a:tc>
                <a:tc>
                  <a:txBody>
                    <a:bodyPr/>
                    <a:lstStyle/>
                    <a:p>
                      <a:pPr>
                        <a:buNone/>
                      </a:pPr>
                      <a:r>
                        <a:rPr lang="en-IN" sz="1100"/>
                        <a:t>Number of casual users</a:t>
                      </a:r>
                    </a:p>
                  </a:txBody>
                  <a:tcPr marL="59596" marR="59596" marT="29798" marB="29798" anchor="ctr">
                    <a:lnL>
                      <a:noFill/>
                    </a:lnL>
                    <a:lnR>
                      <a:noFill/>
                    </a:lnR>
                    <a:lnT>
                      <a:noFill/>
                    </a:lnT>
                    <a:lnB>
                      <a:noFill/>
                    </a:lnB>
                    <a:noFill/>
                  </a:tcPr>
                </a:tc>
                <a:extLst>
                  <a:ext uri="{0D108BD9-81ED-4DB2-BD59-A6C34878D82A}">
                    <a16:rowId xmlns:a16="http://schemas.microsoft.com/office/drawing/2014/main" val="2879373473"/>
                  </a:ext>
                </a:extLst>
              </a:tr>
              <a:tr h="269368">
                <a:tc>
                  <a:txBody>
                    <a:bodyPr/>
                    <a:lstStyle/>
                    <a:p>
                      <a:pPr>
                        <a:buNone/>
                      </a:pPr>
                      <a:r>
                        <a:rPr lang="en-IN" sz="1100">
                          <a:latin typeface="Courier New" panose="02070309020205020404" pitchFamily="49" charset="0"/>
                        </a:rPr>
                        <a:t>registered</a:t>
                      </a:r>
                      <a:endParaRPr lang="en-IN" sz="1100"/>
                    </a:p>
                  </a:txBody>
                  <a:tcPr marL="59596" marR="59596" marT="29798" marB="29798" anchor="ctr">
                    <a:lnL>
                      <a:noFill/>
                    </a:lnL>
                    <a:lnR>
                      <a:noFill/>
                    </a:lnR>
                    <a:lnT>
                      <a:noFill/>
                    </a:lnT>
                    <a:lnB>
                      <a:noFill/>
                    </a:lnB>
                    <a:noFill/>
                  </a:tcPr>
                </a:tc>
                <a:tc>
                  <a:txBody>
                    <a:bodyPr/>
                    <a:lstStyle/>
                    <a:p>
                      <a:pPr>
                        <a:buNone/>
                      </a:pPr>
                      <a:r>
                        <a:rPr lang="en-IN" sz="1100"/>
                        <a:t>Number of registered users</a:t>
                      </a:r>
                    </a:p>
                  </a:txBody>
                  <a:tcPr marL="59596" marR="59596" marT="29798" marB="29798" anchor="ctr">
                    <a:lnL>
                      <a:noFill/>
                    </a:lnL>
                    <a:lnR>
                      <a:noFill/>
                    </a:lnR>
                    <a:lnT>
                      <a:noFill/>
                    </a:lnT>
                    <a:lnB>
                      <a:noFill/>
                    </a:lnB>
                    <a:noFill/>
                  </a:tcPr>
                </a:tc>
                <a:extLst>
                  <a:ext uri="{0D108BD9-81ED-4DB2-BD59-A6C34878D82A}">
                    <a16:rowId xmlns:a16="http://schemas.microsoft.com/office/drawing/2014/main" val="996948294"/>
                  </a:ext>
                </a:extLst>
              </a:tr>
              <a:tr h="269368">
                <a:tc>
                  <a:txBody>
                    <a:bodyPr/>
                    <a:lstStyle/>
                    <a:p>
                      <a:pPr>
                        <a:buNone/>
                      </a:pPr>
                      <a:r>
                        <a:rPr lang="en-IN" sz="1100">
                          <a:latin typeface="Courier New" panose="02070309020205020404" pitchFamily="49" charset="0"/>
                        </a:rPr>
                        <a:t>cnt</a:t>
                      </a:r>
                      <a:endParaRPr lang="en-IN" sz="1100"/>
                    </a:p>
                  </a:txBody>
                  <a:tcPr marL="59596" marR="59596" marT="29798" marB="29798" anchor="ctr">
                    <a:lnL>
                      <a:noFill/>
                    </a:lnL>
                    <a:lnR>
                      <a:noFill/>
                    </a:lnR>
                    <a:lnT>
                      <a:noFill/>
                    </a:lnT>
                    <a:lnB>
                      <a:noFill/>
                    </a:lnB>
                    <a:noFill/>
                  </a:tcPr>
                </a:tc>
                <a:tc>
                  <a:txBody>
                    <a:bodyPr/>
                    <a:lstStyle/>
                    <a:p>
                      <a:pPr>
                        <a:buNone/>
                      </a:pPr>
                      <a:r>
                        <a:rPr lang="en-IN" sz="1100" dirty="0"/>
                        <a:t>Total rentals (</a:t>
                      </a:r>
                      <a:r>
                        <a:rPr lang="en-IN" sz="1100" dirty="0">
                          <a:latin typeface="Courier New" panose="02070309020205020404" pitchFamily="49" charset="0"/>
                        </a:rPr>
                        <a:t>casual + registered</a:t>
                      </a:r>
                      <a:r>
                        <a:rPr lang="en-IN" sz="1100" dirty="0"/>
                        <a:t>)</a:t>
                      </a:r>
                    </a:p>
                  </a:txBody>
                  <a:tcPr marL="59596" marR="59596" marT="29798" marB="29798" anchor="ctr">
                    <a:lnL>
                      <a:noFill/>
                    </a:lnL>
                    <a:lnR>
                      <a:noFill/>
                    </a:lnR>
                    <a:lnT>
                      <a:noFill/>
                    </a:lnT>
                    <a:lnB>
                      <a:noFill/>
                    </a:lnB>
                    <a:noFill/>
                  </a:tcPr>
                </a:tc>
                <a:extLst>
                  <a:ext uri="{0D108BD9-81ED-4DB2-BD59-A6C34878D82A}">
                    <a16:rowId xmlns:a16="http://schemas.microsoft.com/office/drawing/2014/main" val="4250745286"/>
                  </a:ext>
                </a:extLst>
              </a:tr>
            </a:tbl>
          </a:graphicData>
        </a:graphic>
      </p:graphicFrame>
    </p:spTree>
    <p:extLst>
      <p:ext uri="{BB962C8B-B14F-4D97-AF65-F5344CB8AC3E}">
        <p14:creationId xmlns:p14="http://schemas.microsoft.com/office/powerpoint/2010/main" val="17834517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DA3AB-284C-BD4C-1CA9-FB30CC760317}"/>
              </a:ext>
            </a:extLst>
          </p:cNvPr>
          <p:cNvSpPr>
            <a:spLocks noGrp="1"/>
          </p:cNvSpPr>
          <p:nvPr>
            <p:ph type="title"/>
          </p:nvPr>
        </p:nvSpPr>
        <p:spPr/>
        <p:txBody>
          <a:bodyPr/>
          <a:lstStyle/>
          <a:p>
            <a:r>
              <a:rPr lang="en-IN" dirty="0">
                <a:latin typeface="Abadi" panose="020B0604020104020204" pitchFamily="34" charset="0"/>
              </a:rPr>
              <a:t>Registered VS Casual Users</a:t>
            </a:r>
          </a:p>
        </p:txBody>
      </p:sp>
      <p:sp>
        <p:nvSpPr>
          <p:cNvPr id="3" name="Content Placeholder 2">
            <a:extLst>
              <a:ext uri="{FF2B5EF4-FFF2-40B4-BE49-F238E27FC236}">
                <a16:creationId xmlns:a16="http://schemas.microsoft.com/office/drawing/2014/main" id="{C2AB8648-4366-35B1-24DD-D0E994B26A31}"/>
              </a:ext>
            </a:extLst>
          </p:cNvPr>
          <p:cNvSpPr>
            <a:spLocks noGrp="1"/>
          </p:cNvSpPr>
          <p:nvPr>
            <p:ph idx="1"/>
          </p:nvPr>
        </p:nvSpPr>
        <p:spPr>
          <a:xfrm>
            <a:off x="4060722" y="2138516"/>
            <a:ext cx="7688826" cy="4419600"/>
          </a:xfrm>
        </p:spPr>
        <p:txBody>
          <a:bodyPr>
            <a:normAutofit/>
          </a:bodyPr>
          <a:lstStyle/>
          <a:p>
            <a:pPr marL="0" indent="0">
              <a:buNone/>
            </a:pPr>
            <a:r>
              <a:rPr lang="en-US" sz="2000" dirty="0"/>
              <a:t>Registered users contribute most total rentals and display more consistent riding patterns compared to casual users. Generally, casual users are more active during weekends and holidays, suggesting that they primarily use the service for leisure and recreational purposes.</a:t>
            </a:r>
          </a:p>
          <a:p>
            <a:pPr marL="0" indent="0">
              <a:buNone/>
            </a:pPr>
            <a:r>
              <a:rPr lang="en-US" sz="2000" dirty="0"/>
              <a:t>This difference in behavior helps the business understand customer segments more clearly and develop targeted marketing strategies.</a:t>
            </a:r>
          </a:p>
          <a:p>
            <a:pPr marL="0" indent="0">
              <a:buNone/>
            </a:pPr>
            <a:r>
              <a:rPr lang="en-US" sz="2000" b="1" dirty="0"/>
              <a:t>Key Insight:</a:t>
            </a:r>
          </a:p>
          <a:p>
            <a:r>
              <a:rPr lang="en-US" sz="2000" dirty="0"/>
              <a:t>Registered users ensure stable revenue, while casual users create opportunities for seasonal and tourism-based growth.</a:t>
            </a:r>
          </a:p>
          <a:p>
            <a:pPr marL="0" indent="0">
              <a:buNone/>
            </a:pPr>
            <a:endParaRPr lang="en-IN" sz="2000" dirty="0"/>
          </a:p>
        </p:txBody>
      </p:sp>
      <p:graphicFrame>
        <p:nvGraphicFramePr>
          <p:cNvPr id="5" name="Chart 4">
            <a:extLst>
              <a:ext uri="{FF2B5EF4-FFF2-40B4-BE49-F238E27FC236}">
                <a16:creationId xmlns:a16="http://schemas.microsoft.com/office/drawing/2014/main" id="{C32CFE47-0164-4001-92FE-7FF97A7023FC}"/>
              </a:ext>
            </a:extLst>
          </p:cNvPr>
          <p:cNvGraphicFramePr>
            <a:graphicFrameLocks/>
          </p:cNvGraphicFramePr>
          <p:nvPr>
            <p:extLst>
              <p:ext uri="{D42A27DB-BD31-4B8C-83A1-F6EECF244321}">
                <p14:modId xmlns:p14="http://schemas.microsoft.com/office/powerpoint/2010/main" val="3283722675"/>
              </p:ext>
            </p:extLst>
          </p:nvPr>
        </p:nvGraphicFramePr>
        <p:xfrm>
          <a:off x="176981" y="2138516"/>
          <a:ext cx="3755922" cy="456708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49617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36B66-49B5-3457-2BAB-3381511035C3}"/>
              </a:ext>
            </a:extLst>
          </p:cNvPr>
          <p:cNvSpPr>
            <a:spLocks noGrp="1"/>
          </p:cNvSpPr>
          <p:nvPr>
            <p:ph type="title"/>
          </p:nvPr>
        </p:nvSpPr>
        <p:spPr/>
        <p:txBody>
          <a:bodyPr/>
          <a:lstStyle/>
          <a:p>
            <a:r>
              <a:rPr lang="en-IN" dirty="0">
                <a:latin typeface="Abadi" panose="020B0604020104020204" pitchFamily="34" charset="0"/>
              </a:rPr>
              <a:t>Weekday VS Weekend</a:t>
            </a:r>
          </a:p>
        </p:txBody>
      </p:sp>
      <p:sp>
        <p:nvSpPr>
          <p:cNvPr id="3" name="Content Placeholder 2">
            <a:extLst>
              <a:ext uri="{FF2B5EF4-FFF2-40B4-BE49-F238E27FC236}">
                <a16:creationId xmlns:a16="http://schemas.microsoft.com/office/drawing/2014/main" id="{6FF766C0-F7EB-3402-FBAC-14D0E36530EC}"/>
              </a:ext>
            </a:extLst>
          </p:cNvPr>
          <p:cNvSpPr>
            <a:spLocks noGrp="1"/>
          </p:cNvSpPr>
          <p:nvPr>
            <p:ph idx="1"/>
          </p:nvPr>
        </p:nvSpPr>
        <p:spPr>
          <a:xfrm>
            <a:off x="5014452" y="2214716"/>
            <a:ext cx="6715432" cy="4245077"/>
          </a:xfrm>
        </p:spPr>
        <p:txBody>
          <a:bodyPr>
            <a:normAutofit fontScale="92500" lnSpcReduction="10000"/>
          </a:bodyPr>
          <a:lstStyle/>
          <a:p>
            <a:pPr marL="0" indent="0">
              <a:buNone/>
            </a:pPr>
            <a:r>
              <a:rPr lang="en-US" sz="2000" dirty="0"/>
              <a:t>The analysis shows that bike rentals are generally higher on weekdays, mainly due to office commuting and regular travel activities. Users rely heavily on bike-sharing services during working days, especially during peak office hours.</a:t>
            </a:r>
          </a:p>
          <a:p>
            <a:pPr marL="0" indent="0">
              <a:buNone/>
            </a:pPr>
            <a:r>
              <a:rPr lang="en-US" sz="2000" dirty="0"/>
              <a:t>On weekends, rental patterns shift toward leisure and recreational usage. Casual riders become more active, while overall demand remains relatively stable. </a:t>
            </a:r>
          </a:p>
          <a:p>
            <a:pPr marL="0" indent="0">
              <a:buNone/>
            </a:pPr>
            <a:r>
              <a:rPr lang="en-US" sz="2000" b="1" dirty="0"/>
              <a:t>Key Insight:</a:t>
            </a:r>
          </a:p>
          <a:p>
            <a:r>
              <a:rPr lang="en-US" sz="2000" dirty="0"/>
              <a:t>Businesses can allocate more bikes and improve station availability during busy weekdays while introducing promotional offers and tourism-focused campaigns during weekends to attract casual riders.</a:t>
            </a:r>
          </a:p>
        </p:txBody>
      </p:sp>
      <p:graphicFrame>
        <p:nvGraphicFramePr>
          <p:cNvPr id="4" name="Chart 3">
            <a:extLst>
              <a:ext uri="{FF2B5EF4-FFF2-40B4-BE49-F238E27FC236}">
                <a16:creationId xmlns:a16="http://schemas.microsoft.com/office/drawing/2014/main" id="{4E452476-53A0-4B19-BF51-5ED052A919C6}"/>
              </a:ext>
            </a:extLst>
          </p:cNvPr>
          <p:cNvGraphicFramePr>
            <a:graphicFrameLocks/>
          </p:cNvGraphicFramePr>
          <p:nvPr>
            <p:extLst>
              <p:ext uri="{D42A27DB-BD31-4B8C-83A1-F6EECF244321}">
                <p14:modId xmlns:p14="http://schemas.microsoft.com/office/powerpoint/2010/main" val="1486335948"/>
              </p:ext>
            </p:extLst>
          </p:nvPr>
        </p:nvGraphicFramePr>
        <p:xfrm>
          <a:off x="0" y="2214716"/>
          <a:ext cx="5014452" cy="409464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0985332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A3CAF-3137-A84C-6BD8-8C3CEB7EDB56}"/>
              </a:ext>
            </a:extLst>
          </p:cNvPr>
          <p:cNvSpPr>
            <a:spLocks noGrp="1"/>
          </p:cNvSpPr>
          <p:nvPr>
            <p:ph type="title"/>
          </p:nvPr>
        </p:nvSpPr>
        <p:spPr/>
        <p:txBody>
          <a:bodyPr/>
          <a:lstStyle/>
          <a:p>
            <a:r>
              <a:rPr lang="en-IN" dirty="0">
                <a:latin typeface="Abadi" panose="020B0604020104020204" pitchFamily="34" charset="0"/>
              </a:rPr>
              <a:t>Demand Trend</a:t>
            </a:r>
          </a:p>
        </p:txBody>
      </p:sp>
      <p:sp>
        <p:nvSpPr>
          <p:cNvPr id="3" name="Content Placeholder 2">
            <a:extLst>
              <a:ext uri="{FF2B5EF4-FFF2-40B4-BE49-F238E27FC236}">
                <a16:creationId xmlns:a16="http://schemas.microsoft.com/office/drawing/2014/main" id="{B4097BB0-CED8-15EC-7E7A-BF3B1C523A87}"/>
              </a:ext>
            </a:extLst>
          </p:cNvPr>
          <p:cNvSpPr>
            <a:spLocks noGrp="1"/>
          </p:cNvSpPr>
          <p:nvPr>
            <p:ph idx="1"/>
          </p:nvPr>
        </p:nvSpPr>
        <p:spPr>
          <a:xfrm>
            <a:off x="5535561" y="2241755"/>
            <a:ext cx="6174658" cy="3930445"/>
          </a:xfrm>
        </p:spPr>
        <p:txBody>
          <a:bodyPr>
            <a:normAutofit fontScale="70000" lnSpcReduction="20000"/>
          </a:bodyPr>
          <a:lstStyle/>
          <a:p>
            <a:pPr marL="0" indent="0">
              <a:buNone/>
            </a:pPr>
            <a:r>
              <a:rPr lang="en-US" dirty="0"/>
              <a:t>Rental demand reaches its highest levels during morning and evening office commuting hours. Most users prefer bikes as a convenient and cost-effective mode of transportation during daily work routines.</a:t>
            </a:r>
          </a:p>
          <a:p>
            <a:pPr marL="0" indent="0">
              <a:buNone/>
            </a:pPr>
            <a:r>
              <a:rPr lang="en-US" dirty="0"/>
              <a:t>The data also indicates lower activity during midnight and early morning hours, which helps identify low-demand periods for maintenance and operational optimization.</a:t>
            </a:r>
          </a:p>
          <a:p>
            <a:pPr marL="0" indent="0">
              <a:buNone/>
            </a:pPr>
            <a:r>
              <a:rPr lang="en-US" b="1" dirty="0"/>
              <a:t>Key Insight:</a:t>
            </a:r>
          </a:p>
          <a:p>
            <a:r>
              <a:rPr lang="en-US" dirty="0"/>
              <a:t>Office commuting hours are the primary drivers of daily rental demand.</a:t>
            </a:r>
          </a:p>
          <a:p>
            <a:endParaRPr lang="en-IN" dirty="0"/>
          </a:p>
        </p:txBody>
      </p:sp>
      <p:graphicFrame>
        <p:nvGraphicFramePr>
          <p:cNvPr id="4" name="Chart 3">
            <a:extLst>
              <a:ext uri="{FF2B5EF4-FFF2-40B4-BE49-F238E27FC236}">
                <a16:creationId xmlns:a16="http://schemas.microsoft.com/office/drawing/2014/main" id="{653C81D6-A29B-4E39-AFD7-722CEE1BCF0A}"/>
              </a:ext>
            </a:extLst>
          </p:cNvPr>
          <p:cNvGraphicFramePr>
            <a:graphicFrameLocks/>
          </p:cNvGraphicFramePr>
          <p:nvPr>
            <p:extLst>
              <p:ext uri="{D42A27DB-BD31-4B8C-83A1-F6EECF244321}">
                <p14:modId xmlns:p14="http://schemas.microsoft.com/office/powerpoint/2010/main" val="2335028362"/>
              </p:ext>
            </p:extLst>
          </p:nvPr>
        </p:nvGraphicFramePr>
        <p:xfrm>
          <a:off x="0" y="2517058"/>
          <a:ext cx="5240594" cy="365514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29668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0E08F-750E-7ED5-666A-940D6B3B2C0D}"/>
              </a:ext>
            </a:extLst>
          </p:cNvPr>
          <p:cNvSpPr>
            <a:spLocks noGrp="1"/>
          </p:cNvSpPr>
          <p:nvPr>
            <p:ph type="title"/>
          </p:nvPr>
        </p:nvSpPr>
        <p:spPr/>
        <p:txBody>
          <a:bodyPr/>
          <a:lstStyle/>
          <a:p>
            <a:r>
              <a:rPr lang="en-IN" dirty="0">
                <a:latin typeface="Abadi" panose="020B0604020104020204" pitchFamily="34" charset="0"/>
              </a:rPr>
              <a:t>Weather Impact on Rentals</a:t>
            </a:r>
          </a:p>
        </p:txBody>
      </p:sp>
      <p:sp>
        <p:nvSpPr>
          <p:cNvPr id="3" name="Content Placeholder 2">
            <a:extLst>
              <a:ext uri="{FF2B5EF4-FFF2-40B4-BE49-F238E27FC236}">
                <a16:creationId xmlns:a16="http://schemas.microsoft.com/office/drawing/2014/main" id="{DD98C05F-5824-20DE-83D9-8E78183565B4}"/>
              </a:ext>
            </a:extLst>
          </p:cNvPr>
          <p:cNvSpPr>
            <a:spLocks noGrp="1"/>
          </p:cNvSpPr>
          <p:nvPr>
            <p:ph idx="1"/>
          </p:nvPr>
        </p:nvSpPr>
        <p:spPr>
          <a:xfrm>
            <a:off x="5653547" y="2241755"/>
            <a:ext cx="6096001" cy="4208206"/>
          </a:xfrm>
        </p:spPr>
        <p:txBody>
          <a:bodyPr>
            <a:normAutofit fontScale="85000" lnSpcReduction="10000"/>
          </a:bodyPr>
          <a:lstStyle/>
          <a:p>
            <a:pPr marL="0" indent="0">
              <a:buNone/>
            </a:pPr>
            <a:r>
              <a:rPr lang="en-US" sz="2400" dirty="0"/>
              <a:t>Weather has a strong positive relationship with bike rental demand. Moderate temperatures encourage more users to rent bikes, while extreme heat, heavy rainfall, humidity, and high wind speed negatively impact rentals.</a:t>
            </a:r>
          </a:p>
          <a:p>
            <a:pPr marL="0" indent="0">
              <a:buNone/>
            </a:pPr>
            <a:r>
              <a:rPr lang="en-US" sz="2400" dirty="0"/>
              <a:t>Weather conditions can therefore be used as an important forecasting factor to predict demand fluctuations and improve operational planning.</a:t>
            </a:r>
          </a:p>
          <a:p>
            <a:pPr marL="0" indent="0">
              <a:buNone/>
            </a:pPr>
            <a:r>
              <a:rPr lang="en-US" sz="2400" b="1" dirty="0"/>
              <a:t>Key Insight:</a:t>
            </a:r>
          </a:p>
          <a:p>
            <a:r>
              <a:rPr lang="en-US" sz="2400" dirty="0"/>
              <a:t>Weather-based forecasting can significantly improve service efficiency and customer satisfaction.</a:t>
            </a:r>
          </a:p>
          <a:p>
            <a:endParaRPr lang="en-IN" sz="1600" dirty="0"/>
          </a:p>
        </p:txBody>
      </p:sp>
      <p:graphicFrame>
        <p:nvGraphicFramePr>
          <p:cNvPr id="4" name="Chart 3">
            <a:extLst>
              <a:ext uri="{FF2B5EF4-FFF2-40B4-BE49-F238E27FC236}">
                <a16:creationId xmlns:a16="http://schemas.microsoft.com/office/drawing/2014/main" id="{8FE98CF3-BEBD-4358-B90D-51511645D611}"/>
              </a:ext>
            </a:extLst>
          </p:cNvPr>
          <p:cNvGraphicFramePr>
            <a:graphicFrameLocks/>
          </p:cNvGraphicFramePr>
          <p:nvPr>
            <p:extLst>
              <p:ext uri="{D42A27DB-BD31-4B8C-83A1-F6EECF244321}">
                <p14:modId xmlns:p14="http://schemas.microsoft.com/office/powerpoint/2010/main" val="715978633"/>
              </p:ext>
            </p:extLst>
          </p:nvPr>
        </p:nvGraphicFramePr>
        <p:xfrm>
          <a:off x="-1" y="2467897"/>
          <a:ext cx="5574891" cy="398206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014225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Freeform: Shape 12">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Freeform: Shape 14">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F485FF1-96A7-FAB3-22FF-D6F75B8292CF}"/>
              </a:ext>
            </a:extLst>
          </p:cNvPr>
          <p:cNvSpPr>
            <a:spLocks noGrp="1"/>
          </p:cNvSpPr>
          <p:nvPr>
            <p:ph type="title"/>
          </p:nvPr>
        </p:nvSpPr>
        <p:spPr>
          <a:xfrm>
            <a:off x="371094" y="1161288"/>
            <a:ext cx="3438144" cy="1239012"/>
          </a:xfrm>
        </p:spPr>
        <p:txBody>
          <a:bodyPr vert="horz" lIns="91440" tIns="45720" rIns="91440" bIns="45720" rtlCol="0" anchor="ctr">
            <a:normAutofit/>
          </a:bodyPr>
          <a:lstStyle/>
          <a:p>
            <a:r>
              <a:rPr lang="en-US" sz="2800" dirty="0">
                <a:latin typeface="Abadi" panose="020B0604020104020204" pitchFamily="34" charset="0"/>
              </a:rPr>
              <a:t>Executive Overview Dashboard</a:t>
            </a:r>
            <a:endParaRPr lang="en-US" sz="2800" dirty="0"/>
          </a:p>
        </p:txBody>
      </p:sp>
      <p:sp>
        <p:nvSpPr>
          <p:cNvPr id="17" name="Rectangle 16">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D0435AC8-36EE-3009-B398-87E40CF8ECEB}"/>
              </a:ext>
            </a:extLst>
          </p:cNvPr>
          <p:cNvSpPr txBox="1"/>
          <p:nvPr/>
        </p:nvSpPr>
        <p:spPr>
          <a:xfrm>
            <a:off x="371094" y="2718054"/>
            <a:ext cx="3438906" cy="3207258"/>
          </a:xfrm>
          <a:prstGeom prst="rect">
            <a:avLst/>
          </a:prstGeom>
        </p:spPr>
        <p:txBody>
          <a:bodyPr vert="horz" lIns="91440" tIns="45720" rIns="91440" bIns="45720" rtlCol="0" anchor="t">
            <a:normAutofit/>
          </a:bodyPr>
          <a:lstStyle/>
          <a:p>
            <a:pPr>
              <a:lnSpc>
                <a:spcPct val="110000"/>
              </a:lnSpc>
              <a:spcAft>
                <a:spcPts val="600"/>
              </a:spcAft>
            </a:pPr>
            <a:r>
              <a:rPr lang="en-US" sz="1700" dirty="0"/>
              <a:t>This dashboard provides a high-level overview of bike rental performance, customer demand patterns, weather impact, and operational trends. It helps stakeholders quickly monitor key business metrics and make data-driven decisions.</a:t>
            </a:r>
          </a:p>
        </p:txBody>
      </p:sp>
      <p:pic>
        <p:nvPicPr>
          <p:cNvPr id="5" name="Picture 4">
            <a:extLst>
              <a:ext uri="{FF2B5EF4-FFF2-40B4-BE49-F238E27FC236}">
                <a16:creationId xmlns:a16="http://schemas.microsoft.com/office/drawing/2014/main" id="{3C0F3AB3-C2E2-831E-BC6E-C9F0B5AA6A07}"/>
              </a:ext>
            </a:extLst>
          </p:cNvPr>
          <p:cNvPicPr>
            <a:picLocks noChangeAspect="1"/>
          </p:cNvPicPr>
          <p:nvPr/>
        </p:nvPicPr>
        <p:blipFill>
          <a:blip r:embed="rId3"/>
          <a:stretch>
            <a:fillRect/>
          </a:stretch>
        </p:blipFill>
        <p:spPr>
          <a:xfrm>
            <a:off x="4527558" y="1184890"/>
            <a:ext cx="7511665" cy="4488220"/>
          </a:xfrm>
          <a:prstGeom prst="rect">
            <a:avLst/>
          </a:prstGeom>
        </p:spPr>
      </p:pic>
    </p:spTree>
    <p:extLst>
      <p:ext uri="{BB962C8B-B14F-4D97-AF65-F5344CB8AC3E}">
        <p14:creationId xmlns:p14="http://schemas.microsoft.com/office/powerpoint/2010/main" val="14462679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E779ED9-FC07-2296-DE6D-1BF5C056167A}"/>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Freeform: Shape 12">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Freeform: Shape 14">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0F1A1B9-908C-797D-F850-FC1A38655CAE}"/>
              </a:ext>
            </a:extLst>
          </p:cNvPr>
          <p:cNvSpPr>
            <a:spLocks noGrp="1"/>
          </p:cNvSpPr>
          <p:nvPr>
            <p:ph type="title"/>
          </p:nvPr>
        </p:nvSpPr>
        <p:spPr>
          <a:xfrm>
            <a:off x="246890" y="1161288"/>
            <a:ext cx="3563110" cy="1239012"/>
          </a:xfrm>
        </p:spPr>
        <p:txBody>
          <a:bodyPr vert="horz" lIns="91440" tIns="45720" rIns="91440" bIns="45720" rtlCol="0" anchor="ctr">
            <a:normAutofit/>
          </a:bodyPr>
          <a:lstStyle/>
          <a:p>
            <a:r>
              <a:rPr lang="en-US" sz="2800" dirty="0">
                <a:latin typeface="Abadi" panose="020B0604020104020204" pitchFamily="34" charset="0"/>
              </a:rPr>
              <a:t>Consumer Behavior Dashboard</a:t>
            </a:r>
          </a:p>
        </p:txBody>
      </p:sp>
      <p:sp>
        <p:nvSpPr>
          <p:cNvPr id="17" name="Rectangle 16">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18409223-D0EF-6DA9-4B0C-A1D5FE85E0F0}"/>
              </a:ext>
            </a:extLst>
          </p:cNvPr>
          <p:cNvSpPr txBox="1"/>
          <p:nvPr/>
        </p:nvSpPr>
        <p:spPr>
          <a:xfrm>
            <a:off x="371094" y="2718054"/>
            <a:ext cx="3438906" cy="3207258"/>
          </a:xfrm>
          <a:prstGeom prst="rect">
            <a:avLst/>
          </a:prstGeom>
        </p:spPr>
        <p:txBody>
          <a:bodyPr vert="horz" lIns="91440" tIns="45720" rIns="91440" bIns="45720" rtlCol="0" anchor="t">
            <a:normAutofit/>
          </a:bodyPr>
          <a:lstStyle/>
          <a:p>
            <a:pPr>
              <a:lnSpc>
                <a:spcPct val="110000"/>
              </a:lnSpc>
              <a:spcAft>
                <a:spcPts val="600"/>
              </a:spcAft>
            </a:pPr>
            <a:r>
              <a:rPr lang="en-US" sz="1700" dirty="0"/>
              <a:t>This dashboard analyzes customer rental behavior and the impact of environmental factors on bike rental demand. It highlights the relationship between rentals and variables such as temperature, humidity, and wind speed, along with a 30-day demand forecast.</a:t>
            </a:r>
          </a:p>
        </p:txBody>
      </p:sp>
      <p:pic>
        <p:nvPicPr>
          <p:cNvPr id="4" name="Picture 3">
            <a:extLst>
              <a:ext uri="{FF2B5EF4-FFF2-40B4-BE49-F238E27FC236}">
                <a16:creationId xmlns:a16="http://schemas.microsoft.com/office/drawing/2014/main" id="{B27B3CFC-CCCF-04D6-C77E-93304DE4C265}"/>
              </a:ext>
            </a:extLst>
          </p:cNvPr>
          <p:cNvPicPr>
            <a:picLocks noChangeAspect="1"/>
          </p:cNvPicPr>
          <p:nvPr/>
        </p:nvPicPr>
        <p:blipFill>
          <a:blip r:embed="rId3"/>
          <a:stretch>
            <a:fillRect/>
          </a:stretch>
        </p:blipFill>
        <p:spPr>
          <a:xfrm>
            <a:off x="4574546" y="1354181"/>
            <a:ext cx="7493659" cy="4571131"/>
          </a:xfrm>
          <a:prstGeom prst="rect">
            <a:avLst/>
          </a:prstGeom>
        </p:spPr>
      </p:pic>
    </p:spTree>
    <p:extLst>
      <p:ext uri="{BB962C8B-B14F-4D97-AF65-F5344CB8AC3E}">
        <p14:creationId xmlns:p14="http://schemas.microsoft.com/office/powerpoint/2010/main" val="31427210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2DEFC-FFA5-0B49-F040-00005CBF562C}"/>
              </a:ext>
            </a:extLst>
          </p:cNvPr>
          <p:cNvSpPr>
            <a:spLocks noGrp="1"/>
          </p:cNvSpPr>
          <p:nvPr>
            <p:ph type="title"/>
          </p:nvPr>
        </p:nvSpPr>
        <p:spPr/>
        <p:txBody>
          <a:bodyPr/>
          <a:lstStyle/>
          <a:p>
            <a:r>
              <a:rPr lang="en-IN" dirty="0">
                <a:latin typeface="Abadi" panose="020B0604020104020204" pitchFamily="34" charset="0"/>
              </a:rPr>
              <a:t>Overall Analytical Findings</a:t>
            </a:r>
          </a:p>
        </p:txBody>
      </p:sp>
      <p:sp>
        <p:nvSpPr>
          <p:cNvPr id="3" name="Content Placeholder 2">
            <a:extLst>
              <a:ext uri="{FF2B5EF4-FFF2-40B4-BE49-F238E27FC236}">
                <a16:creationId xmlns:a16="http://schemas.microsoft.com/office/drawing/2014/main" id="{49949002-BECD-6547-A8C3-D200075B3B4A}"/>
              </a:ext>
            </a:extLst>
          </p:cNvPr>
          <p:cNvSpPr>
            <a:spLocks noGrp="1"/>
          </p:cNvSpPr>
          <p:nvPr>
            <p:ph idx="1"/>
          </p:nvPr>
        </p:nvSpPr>
        <p:spPr/>
        <p:txBody>
          <a:bodyPr>
            <a:normAutofit/>
          </a:bodyPr>
          <a:lstStyle/>
          <a:p>
            <a:pPr marL="0" indent="0">
              <a:buNone/>
            </a:pPr>
            <a:r>
              <a:rPr lang="en-US" sz="2000" dirty="0"/>
              <a:t>The bike rental business demonstrates strong growth potential driven by urban mobility trends and environmentally friendly transportation preferences. By understanding customer behavior, weather influence, and seasonal demand patterns, the company can make smarter operational and strategic decisions.</a:t>
            </a:r>
          </a:p>
          <a:p>
            <a:pPr marL="0" indent="0">
              <a:buNone/>
            </a:pPr>
            <a:r>
              <a:rPr lang="en-US" sz="2000" dirty="0"/>
              <a:t>Data analytics plays a critical role in improving efficiency, maximizing revenue, and delivering a better customer experience, ultimately supporting long-term business success.</a:t>
            </a:r>
          </a:p>
          <a:p>
            <a:endParaRPr lang="en-IN" sz="2000" dirty="0"/>
          </a:p>
        </p:txBody>
      </p:sp>
    </p:spTree>
    <p:extLst>
      <p:ext uri="{BB962C8B-B14F-4D97-AF65-F5344CB8AC3E}">
        <p14:creationId xmlns:p14="http://schemas.microsoft.com/office/powerpoint/2010/main" val="2062172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5" name="Rectangle 4104">
            <a:extLst>
              <a:ext uri="{FF2B5EF4-FFF2-40B4-BE49-F238E27FC236}">
                <a16:creationId xmlns:a16="http://schemas.microsoft.com/office/drawing/2014/main" id="{5943EECF-03A4-4CEB-899E-47C8038396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7" name="Rectangle 4106">
            <a:extLst>
              <a:ext uri="{FF2B5EF4-FFF2-40B4-BE49-F238E27FC236}">
                <a16:creationId xmlns:a16="http://schemas.microsoft.com/office/drawing/2014/main" id="{F2F606D8-696E-4B76-BB10-43672AA147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4367" y="319440"/>
            <a:ext cx="11543267" cy="5932503"/>
          </a:xfrm>
          <a:prstGeom prst="rect">
            <a:avLst/>
          </a:prstGeom>
          <a:solidFill>
            <a:schemeClr val="bg1"/>
          </a:solidFill>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100" name="Picture 4" descr="PPT Flat Thank You Slide for Presentation">
            <a:extLst>
              <a:ext uri="{FF2B5EF4-FFF2-40B4-BE49-F238E27FC236}">
                <a16:creationId xmlns:a16="http://schemas.microsoft.com/office/drawing/2014/main" id="{BF822527-8050-B3D9-B621-7C6442C7DD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8533" r="-2" b="-2"/>
          <a:stretch>
            <a:fillRect/>
          </a:stretch>
        </p:blipFill>
        <p:spPr bwMode="auto">
          <a:xfrm>
            <a:off x="328486" y="319441"/>
            <a:ext cx="11530584" cy="5932503"/>
          </a:xfrm>
          <a:prstGeom prst="rect">
            <a:avLst/>
          </a:prstGeom>
          <a:noFill/>
          <a:extLst>
            <a:ext uri="{909E8E84-426E-40DD-AFC4-6F175D3DCCD1}">
              <a14:hiddenFill xmlns:a14="http://schemas.microsoft.com/office/drawing/2010/main">
                <a:solidFill>
                  <a:srgbClr val="FFFFFF"/>
                </a:solidFill>
              </a14:hiddenFill>
            </a:ext>
          </a:extLst>
        </p:spPr>
      </p:pic>
      <p:sp>
        <p:nvSpPr>
          <p:cNvPr id="4109" name="Rectangle 4108">
            <a:extLst>
              <a:ext uri="{FF2B5EF4-FFF2-40B4-BE49-F238E27FC236}">
                <a16:creationId xmlns:a16="http://schemas.microsoft.com/office/drawing/2014/main" id="{3ABF1881-5AFD-48F9-979A-19EE2FE30A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998349" y="2960103"/>
            <a:ext cx="190858" cy="65836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1305308"/>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384</TotalTime>
  <Words>724</Words>
  <Application>Microsoft Office PowerPoint</Application>
  <PresentationFormat>Widescreen</PresentationFormat>
  <Paragraphs>83</Paragraphs>
  <Slides>10</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Abadi</vt:lpstr>
      <vt:lpstr>Aptos</vt:lpstr>
      <vt:lpstr>Arial</vt:lpstr>
      <vt:lpstr>Avenir Next LT Pro</vt:lpstr>
      <vt:lpstr>Calibri</vt:lpstr>
      <vt:lpstr>Courier New</vt:lpstr>
      <vt:lpstr>AccentBoxVTI</vt:lpstr>
      <vt:lpstr>BIKE RENTAL OPERATION ANALYSIS </vt:lpstr>
      <vt:lpstr>Dataset Overview</vt:lpstr>
      <vt:lpstr>Registered VS Casual Users</vt:lpstr>
      <vt:lpstr>Weekday VS Weekend</vt:lpstr>
      <vt:lpstr>Demand Trend</vt:lpstr>
      <vt:lpstr>Weather Impact on Rentals</vt:lpstr>
      <vt:lpstr>Executive Overview Dashboard</vt:lpstr>
      <vt:lpstr>Consumer Behavior Dashboard</vt:lpstr>
      <vt:lpstr>Overall Analytical Findings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8151</dc:creator>
  <cp:lastModifiedBy>8151</cp:lastModifiedBy>
  <cp:revision>9</cp:revision>
  <dcterms:created xsi:type="dcterms:W3CDTF">2026-05-25T03:28:04Z</dcterms:created>
  <dcterms:modified xsi:type="dcterms:W3CDTF">2026-05-25T09:52:31Z</dcterms:modified>
</cp:coreProperties>
</file>